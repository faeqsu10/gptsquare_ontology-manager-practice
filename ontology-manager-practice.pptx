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기능을 모두 소개하기보다, 작은 업무 하나를 구현하며 이해한 내용을 공유합니다. 마지막에는 배치의 검사 결과를 보고 사람이 판단을 기록하는 흐름을 설명할 수 있는 것이 목표입니다.</a:t>
            </a:r>
          </a:p>
          <a:p>
            <a:r>
              <a:t>원본 HTML 1페이지.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단순한 설정 메뉴 안내로 소개하지 않습니다. 초반은 객체·링크·액션의 의미, 중반은 시스템 데이터를 판단 단위로 재구성하는 방법과 최소 연결, 후반은 함수·시간·권한·운영 중 실수를 다룹니다. 현업을 공동 설계자로 참여시키고 계속 조정해야 한다는 점까지가 장의 범위입니다.</a:t>
            </a:r>
          </a:p>
          <a:p>
            <a:r>
              <a:t>원본 HTML 2페이지.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오른쪽은 아직 만들지 않은 다음 실습 아이디어입니다. 첫째, 출하 케이스는 검토할 일을 한 건으로 묶는 것입니다. 불합격을 발견한 뒤 재검사를 요청하고 결과를 확인해 완료할 때까지 관리합니다. 둘째, 종합 판정 함수는 여러 검사 결과를 함께 읽고 왜 검토가 필요한지 알려주는 계산입니다. 점도 합격, 내용량 불합격이라면 내용량 재검사 필요라고 설명하게 합니다. 불량률은 데이터와 기준을 먼저 확인해야 합니다. 셋째, 실행 조건과 권한은 지금 상태에서 누가 어떤 버튼을 누를 수 있는지 정하는 것입니다. 예를 들어 보류 중에는 재검토할 수 있고 최종 승인은 지정 담당자만 하게 합니다. 넷째, 현재 상태와 이력은 지금 적용되는 판단과 과거 판단을 함께 남기는 것입니다. 어제 김 담당자가 보류하고 오늘 이 담당자가 승인했다면 현재는 승인이고, 어제 보류한 이유도 찾아볼 수 있게 합니다. 이번에 해 본 것은 배치에 검토 결과를 기록하는 흐름입니다.</a:t>
            </a:r>
          </a:p>
          <a:p>
            <a:r>
              <a:t>원본 HTML 3페이지. 공개용 예시이며 실제 원본 행을 포함하지 않습니다.</a:t>
            </a:r>
          </a:p>
          <a:p>
            <a:r>
              <a:t>지금은 “검토 결과 저장”까지. 다음에는 “재검사 → 승인 → 과정 기록”으로 넓혀 볼 수 있다.</a:t>
            </a:r>
          </a:p>
          <a:p>
            <a:r>
              <a:t>시스템이 검토 이유를 정리해도 최종 판단은 사람이 한다. 불량률까지 활용하려면 데이터와 계산·판정 기준을 먼저 확인해야 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불량요약 구조를 보여주는 예시 세 행입니다. 유형은 없음인데 수량이 12, 34, 56로 기록돼 있습니다. 이런 조합이 30건 중 18건이라 의미를 확인해야 합니다. 수량을 0으로 바꾸거나 유형을 미분류로 정하는 것은 별도의 규칙 결정입니다. 오른쪽은 내용량 검사 예시 세 행입니다. 97.40은 합격, 98.20은 불합격, 98.21은 합격입니다. 제품별 기준 등이 다를 수 있으므로 판정 자체가 틀렸다고 단정할 수 없습니다. 측정값만으로 공통 기준을 추측해 자동 재판정하지 않고 원본 결과를 유지했습니다. 다른 시간 지표 불일치와 연결 한계도 있어 사람이 근거를 확인하는 검토 사례를 선택했습니다.</a:t>
            </a:r>
          </a:p>
          <a:p>
            <a:r>
              <a:t>원본 HTML 4페이지. 공개용 예시이며 실제 원본 행을 포함하지 않습니다.</a:t>
            </a:r>
          </a:p>
          <a:p>
            <a:r>
              <a:t>값을 임의로 고치기보다 → 근거를 확인하고 → 사람의 검토 결과를 남기자.</a:t>
            </a:r>
          </a:p>
          <a:p>
            <a:r>
              <a:t>이 밖에도 시간 지표 간 불일치, 한글 손상, 설비·센서의 배치 연결 키 부재를 확인했다.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검사에는 불합격이 있지만 출하실적은 완료로 해석되는 기록입니다. 이것만으로 실제 잘못 출하했다고 말할 수는 없습니다. 재검사나 예외 승인 이력이 없기 때문입니다. 그래서 원천 출하 상태를 덮어쓰기보다, 데이터를 확인한 사람의 검토 결과를 별도로 남기는 사례를 만들었습니다. 불량요약 등 모든 불일치를 자동 검사하는 기능을 이미 구현한 것은 아닙니다.</a:t>
            </a:r>
          </a:p>
          <a:p>
            <a:r>
              <a:t>원본 HTML 5페이지.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배치를 열고 검사를 확인한 다음 사람이 보류를 선택합니다. 검사 불합격이 자동으로 보류를 실행하는 구성은 아닙니다. 보류를 기록하는 액션 자체가 이번에 구현한 행동입니다. 책의 Shipment Case나 종합 판정 함수 전체를 복제하지는 않았습니다.</a:t>
            </a:r>
          </a:p>
          <a:p>
            <a:r>
              <a:t>원본 HTML 6페이지.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환경에 참여해 제 브랜치를 만들고 실습했습니다. 다음으로 이 환경에서 AI FDE를 어떻게 사용했는지 말씀드리겠습니다. 참고 기록: review-practice에서는 검사 조회, 액션 제출, 속성 반영까지 확인했습니다. review-practice-repeat은 새로 재실습한 브랜치이며 최종 실행 완료는 별도 확인이 필요합니다. 브랜치별 완료 상태는 질문이 있을 때 설명합니다.</a:t>
            </a:r>
          </a:p>
          <a:p>
            <a:r>
              <a:t>원본 HTML 7페이지.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FDE를 두 가지 방식으로 사용했습니다. 첫 번째는 데이터와 책의 설계 원칙을 주고 직접 만들어 보라고 요청한 방식입니다. AI가 얼마나 구현할 수 있는지 보고 싶었습니다. 여기의 전문은 당시 문구의 인용이 아니라 경험을 바탕으로 다듬은 재구성본입니다. 생성 결과 전체의 검토를 다시 요청하거나 사용 절차를 묻는 것은 다음에 해볼 단계입니다.</a:t>
            </a:r>
          </a:p>
          <a:p>
            <a:r>
              <a:t>원본 HTML 8페이지.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내가 직접 해보기 위한 방식입니다. AI에게 대신 만들라고 하지 않고, 무엇을 왜 하는지와 클릭할 곳, 입력값, 성공 확인 방법을 알려 달라고 했습니다. 처음 공유한 무제 5.md가 이 방향의 프롬프트이며 현재 실습에 맞게 다시 정리했습니다. 두 방식은 연속된 필수 순서가 아니라 서로 다른 활용 방식입니다.</a:t>
            </a:r>
          </a:p>
          <a:p>
            <a:r>
              <a:t>원본 HTML 9페이지.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 원본에는 검사 한 건을 구분할 식별자가 필요했습니다. 이번 데이터에서는 배치와 검사 항목을 합쳐 고유한 ID를 만들었습니다. 품질검사의 기본키와 배치를 연결하는 외래키는 역할이 다릅니다. 숫자는 기존 성공 브랜치의 실습 기록 기준입니다.</a:t>
            </a:r>
          </a:p>
          <a:p>
            <a:r>
              <a:t>원본 HTML 10페이지.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예를 들어 이미 있는 DEMO-01-02 배치를 열고 보류를 선택한 뒤 내용량 불합격으로 재검사 필요라고 입력합니다. 출하 검토 기록 액션을 실행하면 그 배치에 검토 상태와 사유가 저장되고 실행한 사람과 시각도 함께 남습니다. 배치를 새로 만드는 것이 아니라 기존 배치에 검토 내용을 기록하는 것입니다. 여기서 속성은 배치의 정보를 담는 칸입니다. 검사 결과와 측정값을 바꾸는 액션은 아닙니다. 설정에서는 판정자에 Current User, Timestamp 타입 판정 시각에 Current Time을 연결했습니다. 보류 사유는 보류일 때만 Required override로 필수가 되게 했습니다.</a:t>
            </a:r>
          </a:p>
          <a:p>
            <a:r>
              <a:t>원본 HTML 11페이지.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기존 실습 기록이고 오른쪽은 이 HTML 안에서만 동작하는 설명용 예시입니다. 먼저 빈 사유로 제출해 실패를 보여주고, 사유를 넣어 성공을 보여줍니다. 승인으로 바꾸면 사유가 필수가 아닌 것도 확인합니다. 체험의 공백 검사와 사용자 표시는 설명용이며 Foundry의 모든 검증 규칙을 복제한 것은 아닙니다. 새 재실습 브랜치는 최종 실행 결과를 따로 확인해야 합니다.</a:t>
            </a:r>
          </a:p>
          <a:p>
            <a:r>
              <a:t>원본 HTML 12페이지.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브랜치에서 처음부터 재현하는 것은 발표 전 리허설로 진행하면 좋습니다. 이번에 완료한 범위는 판단을 객체 속성에 남기는 흐름입니다. 다음에는 상태별 실행 조건, 역할별 권한, 이전 결정을 남기는 이력까지 확장할 수 있습니다. 질문은 어떤 대상을 판단하고 어떤 행동을 남길지에 연결해 받아보세요.</a:t>
            </a:r>
          </a:p>
          <a:p>
            <a:r>
              <a:t>원본 HTML 13페이지.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이 절차는 기존 성공 실습 기록을 순서대로 재구성했다. 현재 UI의 모든 생성 화면을 새로 재실행한 결과는 아니다. 메뉴 위치·자동 생성 이름은 환경에 따라 다를 수 있다. 설명 문구는 복사할 수 있도록 새로 작성한 예시다.</a:t>
            </a:r>
          </a:p>
          <a:p>
            <a:r>
              <a:t>원본 HTML 14페이지. 공개용 예시이며 실제 원본 행을 포함하지 않습니다.</a:t>
            </a:r>
          </a:p>
          <a:p>
            <a:r>
              <a:t>추가 설명: 이 절차는 기존 성공 실습 기록을 순서대로 재구성했다. 현재 UI의 모든 생성 화면을 새로 재실행한 결과는 아니다. 메뉴 위치·자동 생성 이름은 환경에 따라 다를 수 있다. 설명 문구는 복사할 수 있도록 새로 작성한 예시다.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브랜치를 만들었다고 모든 데이터가 복제되는 것은 아니다. 이 가이드는 조회 가능한 원본 Dataset에서 시작한다. 없으면 원본 가져오기를 먼저 끝낸다. 원본의 불일치를 임의로 수정하지 않는다.</a:t>
            </a:r>
          </a:p>
          <a:p>
            <a:r>
              <a:t>원본 HTML 15페이지. 공개용 예시이며 실제 원본 행을 포함하지 않습니다.</a:t>
            </a:r>
          </a:p>
          <a:p>
            <a:r>
              <a:t>추가 설명: 브랜치를 만들었다고 모든 데이터가 복제되는 것은 아니다. 이 가이드는 조회 가능한 원본 Dataset에서 시작한다. 없으면 원본 가져오기를 먼저 끝낸다. 원본의 불일치를 임의로 수정하지 않는다.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위 계산은 의미를 설명한 식이며 UI의 코드 입력 문법을 뜻하지 않는다. Add column 또는 문자열 연결 변환에서 해당 컬럼과 상수를 지정한다. 같은 배치의 같은 항목을 재검사하면 ID가 중복될 수 있으므로 별도 검사 ID나 회차가 필요하다.</a:t>
            </a:r>
          </a:p>
          <a:p>
            <a:r>
              <a:t>원본 HTML 16페이지. 공개용 예시이며 실제 원본 행을 포함하지 않습니다.</a:t>
            </a:r>
          </a:p>
          <a:p>
            <a:r>
              <a:t>추가 설명: 위 계산은 의미를 설명한 식이며 UI의 코드 입력 문법을 뜻하지 않는다. Add column 또는 문자열 연결 변환에서 해당 컬럼과 상수를 지정한다. 같은 배치의 같은 항목을 재검사하면 ID가 중복될 수 있으므로 별도 검사 ID나 회차가 필요하다.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같은 목적의 객체가 이미 있으면 이름만 같다고 새로 만들지 말고 기본키·데이터 소스·속성을 확인해 재사용한다. 기존 날짜 속성 타입이 다르면 원천 형식과 일치하는지 확인한다. Pipeline Builder가 관리하는 객체가 편집 불가로 표시되면 생성 위치와 편집 범위를 먼저 확인한다.</a:t>
            </a:r>
          </a:p>
          <a:p>
            <a:r>
              <a:t>원본 HTML 17페이지. 공개용 예시이며 실제 원본 행을 포함하지 않습니다.</a:t>
            </a:r>
          </a:p>
          <a:p>
            <a:r>
              <a:t>추가 설명: 같은 목적의 객체가 이미 있으면 이름만 같다고 새로 만들지 말고 기본키·데이터 소스·속성을 확인해 재사용한다. 기존 날짜 속성 타입이 다르면 원천 형식과 일치하는지 확인한다. Pipeline Builder가 관리하는 객체가 편집 불가로 표시되면 생성 위치와 편집 범위를 먼저 확인한다.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inspection_id는 검사 한 건을 구분하고 batch_id는 어느 배치의 검사인지 알려준다. 두 키의 역할을 구분한다. Property ID나 API 이름이 자동 생성되면 기록하고, 이미 연결된 식별자를 임의로 바꾸지 않는다.</a:t>
            </a:r>
          </a:p>
          <a:p>
            <a:r>
              <a:t>원본 HTML 18페이지. 공개용 예시이며 실제 원본 행을 포함하지 않습니다.</a:t>
            </a:r>
          </a:p>
          <a:p>
            <a:r>
              <a:t>추가 설명: inspection_id는 검사 한 건을 구분하고 batch_id는 어느 배치의 검사인지 알려준다. 두 키의 역할을 구분한다. Property ID나 API 이름이 자동 생성되면 기록하고, 이미 연결된 식별자를 임의로 바꾸지 않는다.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표시 이름은 화면에서 읽는 이름, API 이름은 코드에서 구분하는 이름이다. 설명에 필수라고 적는 것만으로 입력이 강제되지는 않는다. 실제 필수 규칙은 액션에서 설정한다. 빈 검토 상태는 아직 기록되지 않은 상태이며 미검토라는 값이 자동 저장된 것은 아니다.</a:t>
            </a:r>
          </a:p>
          <a:p>
            <a:r>
              <a:t>원본 HTML 19페이지. 공개용 예시이며 실제 원본 행을 포함하지 않습니다.</a:t>
            </a:r>
          </a:p>
          <a:p>
            <a:r>
              <a:t>추가 설명: 표시 이름은 화면에서 읽는 이름, API 이름은 코드에서 구분하는 이름이다. 설명에 필수라고 적는 것만으로 입력이 강제되지는 않는다. 실제 필수 규칙은 액션에서 설정한다. 빈 검토 상태는 아직 기록되지 않은 상태이며 미검토라는 값이 자동 저장된 것은 아니다.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검사의 inspection_id를 배치 키에 연결하면 안 된다. inspection_id는 검사 자체의 키이고 배치를 찾는 값은 batch_id다. 타입 두 개가 같은 브랜치에 있어야 한다.</a:t>
            </a:r>
          </a:p>
          <a:p>
            <a:r>
              <a:t>원본 HTML 20페이지. 공개용 예시이며 실제 원본 행을 포함하지 않습니다.</a:t>
            </a:r>
          </a:p>
          <a:p>
            <a:r>
              <a:t>추가 설명: 검사의 inspection_id를 배치 키에 연결하면 안 된다. inspection_id는 검사 자체의 키이고 배치를 찾는 값은 batch_id다. 타입 두 개가 같은 브랜치에 있어야 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자동 생성 액션과 New 방식은 화면 순서가 다를 수 있다. 입력 파라미터가 이미 있으면 같은 것을 두 번 만들지 않는다. Parameters가 안 보이면 우선 올바른 액션·브랜치와 대상 규칙이 구성됐는지 확인한다.</a:t>
            </a:r>
          </a:p>
          <a:p>
            <a:r>
              <a:t>원본 HTML 21페이지. 공개용 예시이며 실제 원본 행을 포함하지 않습니다.</a:t>
            </a:r>
          </a:p>
          <a:p>
            <a:r>
              <a:t>추가 설명: 자동 생성 액션과 New 방식은 화면 순서가 다를 수 있다. 입력 파라미터가 이미 있으면 같은 것을 두 번 만들지 않는다. Parameters가 안 보이면 우선 올바른 액션·브랜치와 대상 규칙이 구성됐는지 확인한다.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UI가 단일 선택을 제공하는 위치에서 선택지 세 개를 설정한다. Form/Layout이 별도로 있다면 해당 입력칸이 표시되는지 확인한다. 실제 표시 여부를 미리보기로 확인하는 것이 완료 기준이다.</a:t>
            </a:r>
          </a:p>
          <a:p>
            <a:r>
              <a:t>원본 HTML 22페이지. 공개용 예시이며 실제 원본 행을 포함하지 않습니다.</a:t>
            </a:r>
          </a:p>
          <a:p>
            <a:r>
              <a:t>추가 설명: UI가 단일 선택을 제공하는 위치에서 선택지 세 개를 설정한다. Form/Layout이 별도로 있다면 해당 입력칸이 표시되는지 확인한다. 실제 표시 여부를 미리보기로 확인하는 것이 완료 기준이다.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입력 파라미터는 액션이 전달받는 값이고 속성은 배치의 저장 칸이다. 보류를 선택하면 검토 상태 칸에 보류를 저장하도록 연결한다. 검사 결과와 측정값을 수정하는 규칙은 추가하지 않는다.</a:t>
            </a:r>
          </a:p>
          <a:p>
            <a:r>
              <a:t>원본 HTML 23페이지. 공개용 예시이며 실제 원본 행을 포함하지 않습니다.</a:t>
            </a:r>
          </a:p>
          <a:p>
            <a:r>
              <a:t>추가 설명: 입력 파라미터는 액션이 전달받는 값이고 속성은 배치의 저장 칸이다. 보류를 선택하면 검토 상태 칸에 보류를 저장하도록 연결한다. 검사 결과와 측정값을 수정하는 규칙은 추가하지 않는다.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기본 Required까지 켜면 모든 상태에서 사유가 필수가 된다. 보류일 때만 켜려면 기본값을 끄고 override를 추가한다. 공백만 입력하는 경우의 처리와 중복 보류 금지는 별도 검증·조건이며 이번 완료 범위에 자동 포함되지 않는다.</a:t>
            </a:r>
          </a:p>
          <a:p>
            <a:r>
              <a:t>원본 HTML 24페이지. 공개용 예시이며 실제 원본 행을 포함하지 않습니다.</a:t>
            </a:r>
          </a:p>
          <a:p>
            <a:r>
              <a:t>추가 설명: 기본 Required까지 켜면 모든 상태에서 사유가 필수가 된다. 보류일 때만 켜려면 기본값을 끄고 override를 추가한다. 공백만 입력하는 경우의 처리와 중복 보류 금지는 별도 검증·조건이며 이번 완료 범위에 자동 포함되지 않는다.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타입 생성은 틀을 정의하는 일이고 인덱싱은 그 틀로 실제 데이터를 조회할 수 있게 준비하는 일이다. 0 objects이면 원천·출력 행, 브랜치, 인덱싱 상태를 차례로 본다. Unknown Resource가 보이면 객체 참조와 브랜치를 확인하고, 원인이 확인되지 않은 상태를 해결 완료라고 적지 않는다.</a:t>
            </a:r>
          </a:p>
          <a:p>
            <a:r>
              <a:t>원본 HTML 25페이지. 공개용 예시이며 실제 원본 행을 포함하지 않습니다.</a:t>
            </a:r>
          </a:p>
          <a:p>
            <a:r>
              <a:t>추가 설명: 타입 생성은 틀을 정의하는 일이고 인덱싱은 그 틀로 실제 데이터를 조회할 수 있게 준비하는 일이다. 0 objects이면 원천·출력 행, 브랜치, 인덱싱 상태를 차례로 본다. Unknown Resource가 보이면 객체 참조와 브랜치를 확인하고, 원인이 확인되지 않은 상태를 해결 완료라고 적지 않는다.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검토 값은 다시 실행하면 갱신된다. 이 속성만으로 이전 결정의 전체 이력이 보존되지는 않는다. 기존 성공 브랜치는 review-practice였고 새 브랜치 재실습은 자신의 결과를 별도로 확인해야 한다.</a:t>
            </a:r>
          </a:p>
          <a:p>
            <a:r>
              <a:t>원본 HTML 26페이지. 공개용 예시이며 실제 원본 행을 포함하지 않습니다.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부록은 전체를 발표하기보다 실습하면서 확인하는 용도입니다. 검토 값은 다시 실행하면 갱신된다. 이 속성만으로 이전 결정의 전체 이력이 보존되지는 않는다. 기존 성공 브랜치는 review-practice였고 새 브랜치 재실습은 자신의 결과를 별도로 확인해야 한다.</a:t>
            </a:r>
          </a:p>
          <a:p>
            <a:r>
              <a:t>원본 HTML 26페이지. 공개용 예시이며 실제 원본 행을 포함하지 않습니다.</a:t>
            </a:r>
          </a:p>
          <a:p>
            <a:r>
              <a:t>추가 설명: 검토 값은 다시 실행하면 갱신된다. 이 속성만으로 이전 결정의 전체 이력이 보존되지는 않는다. 기존 성공 브랜치는 review-practice였고 새 브랜치 재실습은 자신의 결과를 별도로 확인해야 한다.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프로젝트·브랜치·Dataset을 지정한 뒤 사용합니다. 실제 과거 입력문의 직접 인용이 아닌 재구성본입니다.</a:t>
            </a:r>
          </a:p>
          <a:p>
            <a:r>
              <a:t>공개 HTML: https://faeqsu10.github.io/gptsquare_ontology-manager-practice/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2026.09.09 · ONTOLOGY MANAGER</a:t>
            </a:r>
          </a:p>
        </p:txBody>
      </p:sp>
      <p:sp>
        <p:nvSpPr>
          <p:cNvPr id="3" name="TextBox 2"/>
          <p:cNvSpPr txBox="1"/>
          <p:nvPr/>
        </p:nvSpPr>
        <p:spPr>
          <a:xfrm>
            <a:off x="502920" y="777240"/>
            <a:ext cx="11064240" cy="1343152"/>
          </a:xfrm>
          <a:prstGeom prst="rect">
            <a:avLst/>
          </a:prstGeom>
          <a:noFill/>
        </p:spPr>
        <p:txBody>
          <a:bodyPr wrap="none" lIns="0" rIns="0" tIns="0" bIns="0">
            <a:noAutofit/>
          </a:bodyPr>
          <a:lstStyle/>
          <a:p>
            <a:pPr algn="l">
              <a:lnSpc>
                <a:spcPct val="112000"/>
              </a:lnSpc>
              <a:spcBef>
                <a:spcPts val="0"/>
              </a:spcBef>
              <a:spcAft>
                <a:spcPts val="0"/>
              </a:spcAft>
              <a:defRPr sz="4000" b="1">
                <a:solidFill>
                  <a:srgbClr val="182B25"/>
                </a:solidFill>
                <a:latin typeface="Malgun Gothic"/>
              </a:defRPr>
            </a:pPr>
            <a:r>
              <a:t>판단을 구조로.</a:t>
            </a:r>
          </a:p>
          <a:p>
            <a:pPr algn="l">
              <a:lnSpc>
                <a:spcPct val="112000"/>
              </a:lnSpc>
              <a:spcBef>
                <a:spcPts val="0"/>
              </a:spcBef>
              <a:spcAft>
                <a:spcPts val="0"/>
              </a:spcAft>
              <a:defRPr sz="4000" b="1">
                <a:solidFill>
                  <a:srgbClr val="182B25"/>
                </a:solidFill>
                <a:latin typeface="Malgun Gothic"/>
              </a:defRPr>
            </a:pPr>
            <a:r>
              <a:t>배치 출하 검토를 만들어 보다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a:t>
            </a:r>
          </a:p>
        </p:txBody>
      </p:sp>
      <p:sp>
        <p:nvSpPr>
          <p:cNvPr id="6" name="TextBox 5"/>
          <p:cNvSpPr txBox="1"/>
          <p:nvPr/>
        </p:nvSpPr>
        <p:spPr>
          <a:xfrm>
            <a:off x="502920" y="2321560"/>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책과 데이터를 읽고 유즈케이스를 정한 뒤, 공유 환경에서 AI FDE와 직접 실습으로 이어간 과정</a:t>
            </a:r>
          </a:p>
        </p:txBody>
      </p:sp>
      <p:sp>
        <p:nvSpPr>
          <p:cNvPr id="7" name="Rounded Rectangle 6"/>
          <p:cNvSpPr/>
          <p:nvPr/>
        </p:nvSpPr>
        <p:spPr>
          <a:xfrm>
            <a:off x="502920" y="2810891"/>
            <a:ext cx="3575304" cy="17172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9754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01 / BOOK</a:t>
            </a:r>
          </a:p>
        </p:txBody>
      </p:sp>
      <p:sp>
        <p:nvSpPr>
          <p:cNvPr id="9" name="TextBox 8"/>
          <p:cNvSpPr txBox="1"/>
          <p:nvPr/>
        </p:nvSpPr>
        <p:spPr>
          <a:xfrm>
            <a:off x="667512" y="33782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설계의 기준을 배우다</a:t>
            </a:r>
          </a:p>
        </p:txBody>
      </p:sp>
      <p:sp>
        <p:nvSpPr>
          <p:cNvPr id="10" name="TextBox 9"/>
          <p:cNvSpPr txBox="1"/>
          <p:nvPr/>
        </p:nvSpPr>
        <p:spPr>
          <a:xfrm>
            <a:off x="667512" y="386029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무엇을 객체·관계·행동으로 정할까?</a:t>
            </a:r>
          </a:p>
        </p:txBody>
      </p:sp>
      <p:sp>
        <p:nvSpPr>
          <p:cNvPr id="11" name="Rounded Rectangle 10"/>
          <p:cNvSpPr/>
          <p:nvPr/>
        </p:nvSpPr>
        <p:spPr>
          <a:xfrm>
            <a:off x="4306824" y="2810891"/>
            <a:ext cx="3575304" cy="17172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29754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02 / AI FDE</a:t>
            </a:r>
          </a:p>
        </p:txBody>
      </p:sp>
      <p:sp>
        <p:nvSpPr>
          <p:cNvPr id="13" name="TextBox 12"/>
          <p:cNvSpPr txBox="1"/>
          <p:nvPr/>
        </p:nvSpPr>
        <p:spPr>
          <a:xfrm>
            <a:off x="4471416" y="33782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업무를 말로 요청하다</a:t>
            </a:r>
          </a:p>
        </p:txBody>
      </p:sp>
      <p:sp>
        <p:nvSpPr>
          <p:cNvPr id="14" name="TextBox 13"/>
          <p:cNvSpPr txBox="1"/>
          <p:nvPr/>
        </p:nvSpPr>
        <p:spPr>
          <a:xfrm>
            <a:off x="4471416" y="386029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어떻게 요청하고 결과를 확인할까?</a:t>
            </a:r>
          </a:p>
        </p:txBody>
      </p:sp>
      <p:sp>
        <p:nvSpPr>
          <p:cNvPr id="15" name="Rounded Rectangle 14"/>
          <p:cNvSpPr/>
          <p:nvPr/>
        </p:nvSpPr>
        <p:spPr>
          <a:xfrm>
            <a:off x="8110728" y="2810891"/>
            <a:ext cx="3575304" cy="17172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9754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03 / HANDS-ON</a:t>
            </a:r>
          </a:p>
        </p:txBody>
      </p:sp>
      <p:sp>
        <p:nvSpPr>
          <p:cNvPr id="17" name="TextBox 16"/>
          <p:cNvSpPr txBox="1"/>
          <p:nvPr/>
        </p:nvSpPr>
        <p:spPr>
          <a:xfrm>
            <a:off x="8275320" y="33782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직접 연결하고 실행하다</a:t>
            </a:r>
          </a:p>
        </p:txBody>
      </p:sp>
      <p:sp>
        <p:nvSpPr>
          <p:cNvPr id="18" name="TextBox 17"/>
          <p:cNvSpPr txBox="1"/>
          <p:nvPr/>
        </p:nvSpPr>
        <p:spPr>
          <a:xfrm>
            <a:off x="8275320" y="386029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액션을 누르면 무엇이 달라질까?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01 / BOOK · CHAPTER 10, p.133–149</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온톨로지 매니저에서 판단의 구조와 운영 기준을 정한다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a:t>
            </a:r>
          </a:p>
        </p:txBody>
      </p:sp>
      <p:sp>
        <p:nvSpPr>
          <p:cNvPr id="6" name="Rounded Rectangle 5"/>
          <p:cNvSpPr/>
          <p:nvPr/>
        </p:nvSpPr>
        <p:spPr>
          <a:xfrm>
            <a:off x="502920" y="1496060"/>
            <a:ext cx="3575304" cy="1790827"/>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객체·링크·액션</a:t>
            </a:r>
          </a:p>
        </p:txBody>
      </p:sp>
      <p:sp>
        <p:nvSpPr>
          <p:cNvPr id="8" name="TextBox 7"/>
          <p:cNvSpPr txBox="1"/>
          <p:nvPr/>
        </p:nvSpPr>
        <p:spPr>
          <a:xfrm>
            <a:off x="667512" y="2142744"/>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판단 대상, 판단 맥락, 판단 결과를</a:t>
            </a:r>
          </a:p>
          <a:p>
            <a:pPr algn="l">
              <a:lnSpc>
                <a:spcPct val="112000"/>
              </a:lnSpc>
              <a:spcBef>
                <a:spcPts val="0"/>
              </a:spcBef>
              <a:spcAft>
                <a:spcPts val="0"/>
              </a:spcAft>
              <a:defRPr sz="1500" b="0">
                <a:solidFill>
                  <a:srgbClr val="182B25"/>
                </a:solidFill>
                <a:latin typeface="Malgun Gothic"/>
              </a:defRPr>
            </a:pPr>
            <a:r>
              <a:t>하나의 흐름으로 구성한다.</a:t>
            </a:r>
          </a:p>
        </p:txBody>
      </p:sp>
      <p:sp>
        <p:nvSpPr>
          <p:cNvPr id="9" name="Rounded Rectangle 8"/>
          <p:cNvSpPr/>
          <p:nvPr/>
        </p:nvSpPr>
        <p:spPr>
          <a:xfrm>
            <a:off x="4306824" y="1496060"/>
            <a:ext cx="3575304" cy="1790827"/>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시스템 데이터 재매핑</a:t>
            </a:r>
          </a:p>
        </p:txBody>
      </p:sp>
      <p:sp>
        <p:nvSpPr>
          <p:cNvPr id="11" name="TextBox 10"/>
          <p:cNvSpPr txBox="1"/>
          <p:nvPr/>
        </p:nvSpPr>
        <p:spPr>
          <a:xfrm>
            <a:off x="4471416" y="2142744"/>
            <a:ext cx="3246120"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ERP·MES·SCM의 테이블을 그대로</a:t>
            </a:r>
          </a:p>
          <a:p>
            <a:pPr algn="l">
              <a:lnSpc>
                <a:spcPct val="112000"/>
              </a:lnSpc>
              <a:spcBef>
                <a:spcPts val="0"/>
              </a:spcBef>
              <a:spcAft>
                <a:spcPts val="0"/>
              </a:spcAft>
              <a:defRPr sz="1500" b="0">
                <a:solidFill>
                  <a:srgbClr val="182B25"/>
                </a:solidFill>
                <a:latin typeface="Malgun Gothic"/>
              </a:defRPr>
            </a:pPr>
            <a:r>
              <a:t>옮기지 않고 판단 단위로 재구성한</a:t>
            </a:r>
          </a:p>
          <a:p>
            <a:pPr algn="l">
              <a:lnSpc>
                <a:spcPct val="112000"/>
              </a:lnSpc>
              <a:spcBef>
                <a:spcPts val="0"/>
              </a:spcBef>
              <a:spcAft>
                <a:spcPts val="0"/>
              </a:spcAft>
              <a:defRPr sz="1500" b="0">
                <a:solidFill>
                  <a:srgbClr val="182B25"/>
                </a:solidFill>
                <a:latin typeface="Malgun Gothic"/>
              </a:defRPr>
            </a:pPr>
            <a:r>
              <a:t>다.</a:t>
            </a:r>
          </a:p>
        </p:txBody>
      </p:sp>
      <p:sp>
        <p:nvSpPr>
          <p:cNvPr id="12" name="Rounded Rectangle 11"/>
          <p:cNvSpPr/>
          <p:nvPr/>
        </p:nvSpPr>
        <p:spPr>
          <a:xfrm>
            <a:off x="8110728" y="1496060"/>
            <a:ext cx="3575304" cy="1790827"/>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최소 연결</a:t>
            </a:r>
          </a:p>
        </p:txBody>
      </p:sp>
      <p:sp>
        <p:nvSpPr>
          <p:cNvPr id="14" name="TextBox 13"/>
          <p:cNvSpPr txBox="1"/>
          <p:nvPr/>
        </p:nvSpPr>
        <p:spPr>
          <a:xfrm>
            <a:off x="8275320" y="2142744"/>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현재 판단과 행동에 필요한 관계부</a:t>
            </a:r>
          </a:p>
          <a:p>
            <a:pPr algn="l">
              <a:lnSpc>
                <a:spcPct val="112000"/>
              </a:lnSpc>
              <a:spcBef>
                <a:spcPts val="0"/>
              </a:spcBef>
              <a:spcAft>
                <a:spcPts val="0"/>
              </a:spcAft>
              <a:defRPr sz="1500" b="0">
                <a:solidFill>
                  <a:srgbClr val="182B25"/>
                </a:solidFill>
                <a:latin typeface="Malgun Gothic"/>
              </a:defRPr>
            </a:pPr>
            <a:r>
              <a:t>터 연결한다.</a:t>
            </a:r>
          </a:p>
        </p:txBody>
      </p:sp>
      <p:sp>
        <p:nvSpPr>
          <p:cNvPr id="15" name="Rounded Rectangle 14"/>
          <p:cNvSpPr/>
          <p:nvPr/>
        </p:nvSpPr>
        <p:spPr>
          <a:xfrm>
            <a:off x="502920" y="3488055"/>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652647"/>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액션과 함수</a:t>
            </a:r>
          </a:p>
        </p:txBody>
      </p:sp>
      <p:sp>
        <p:nvSpPr>
          <p:cNvPr id="17" name="TextBox 16"/>
          <p:cNvSpPr txBox="1"/>
          <p:nvPr/>
        </p:nvSpPr>
        <p:spPr>
          <a:xfrm>
            <a:off x="667512" y="4134739"/>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조건·책임자·변경 결과를 정하고, 함</a:t>
            </a:r>
          </a:p>
          <a:p>
            <a:pPr algn="l">
              <a:lnSpc>
                <a:spcPct val="112000"/>
              </a:lnSpc>
              <a:spcBef>
                <a:spcPts val="0"/>
              </a:spcBef>
              <a:spcAft>
                <a:spcPts val="0"/>
              </a:spcAft>
              <a:defRPr sz="1500" b="0">
                <a:solidFill>
                  <a:srgbClr val="182B25"/>
                </a:solidFill>
                <a:latin typeface="Malgun Gothic"/>
              </a:defRPr>
            </a:pPr>
            <a:r>
              <a:t>수로 판단 근거와 사유를 표현한다.</a:t>
            </a:r>
          </a:p>
        </p:txBody>
      </p:sp>
      <p:sp>
        <p:nvSpPr>
          <p:cNvPr id="18" name="Rounded Rectangle 17"/>
          <p:cNvSpPr/>
          <p:nvPr/>
        </p:nvSpPr>
        <p:spPr>
          <a:xfrm>
            <a:off x="4306824" y="3488055"/>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1416" y="3652647"/>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시간과 권한</a:t>
            </a:r>
          </a:p>
        </p:txBody>
      </p:sp>
      <p:sp>
        <p:nvSpPr>
          <p:cNvPr id="20" name="TextBox 19"/>
          <p:cNvSpPr txBox="1"/>
          <p:nvPr/>
        </p:nvSpPr>
        <p:spPr>
          <a:xfrm>
            <a:off x="4471416" y="4134739"/>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과거 이슈와 현재 상태를 구분하고,</a:t>
            </a:r>
          </a:p>
          <a:p>
            <a:pPr algn="l">
              <a:lnSpc>
                <a:spcPct val="112000"/>
              </a:lnSpc>
              <a:spcBef>
                <a:spcPts val="0"/>
              </a:spcBef>
              <a:spcAft>
                <a:spcPts val="0"/>
              </a:spcAft>
              <a:defRPr sz="1500" b="0">
                <a:solidFill>
                  <a:srgbClr val="182B25"/>
                </a:solidFill>
                <a:latin typeface="Malgun Gothic"/>
              </a:defRPr>
            </a:pPr>
            <a:r>
              <a:t>누가 제안·실행할지 정한다.</a:t>
            </a:r>
          </a:p>
        </p:txBody>
      </p:sp>
      <p:sp>
        <p:nvSpPr>
          <p:cNvPr id="21" name="Rounded Rectangle 20"/>
          <p:cNvSpPr/>
          <p:nvPr/>
        </p:nvSpPr>
        <p:spPr>
          <a:xfrm>
            <a:off x="8110728" y="3488055"/>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3652647"/>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운영 중 개선</a:t>
            </a:r>
          </a:p>
        </p:txBody>
      </p:sp>
      <p:sp>
        <p:nvSpPr>
          <p:cNvPr id="23" name="TextBox 22"/>
          <p:cNvSpPr txBox="1"/>
          <p:nvPr/>
        </p:nvSpPr>
        <p:spPr>
          <a:xfrm>
            <a:off x="8275320" y="4134739"/>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현업과 함께 상태·액션을 조정하고,</a:t>
            </a:r>
          </a:p>
          <a:p>
            <a:pPr algn="l">
              <a:lnSpc>
                <a:spcPct val="112000"/>
              </a:lnSpc>
              <a:spcBef>
                <a:spcPts val="0"/>
              </a:spcBef>
              <a:spcAft>
                <a:spcPts val="0"/>
              </a:spcAft>
              <a:defRPr sz="1500" b="0">
                <a:solidFill>
                  <a:srgbClr val="182B25"/>
                </a:solidFill>
                <a:latin typeface="Malgun Gothic"/>
              </a:defRPr>
            </a:pPr>
            <a:r>
              <a:t>각 구조의 존재 이유를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01 / BOOK → PRACTICE</a:t>
            </a:r>
          </a:p>
        </p:txBody>
      </p:sp>
      <p:sp>
        <p:nvSpPr>
          <p:cNvPr id="3" name="TextBox 2"/>
          <p:cNvSpPr txBox="1"/>
          <p:nvPr/>
        </p:nvSpPr>
        <p:spPr>
          <a:xfrm>
            <a:off x="502920" y="777240"/>
            <a:ext cx="11064240" cy="9621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이번에는 검토 결과를 기록하고, 다음에는 검토 과정까지 관리해</a:t>
            </a:r>
          </a:p>
          <a:p>
            <a:pPr algn="l">
              <a:lnSpc>
                <a:spcPct val="112000"/>
              </a:lnSpc>
              <a:spcBef>
                <a:spcPts val="0"/>
              </a:spcBef>
              <a:spcAft>
                <a:spcPts val="0"/>
              </a:spcAft>
              <a:defRPr sz="2800" b="1">
                <a:solidFill>
                  <a:srgbClr val="182B25"/>
                </a:solidFill>
                <a:latin typeface="Malgun Gothic"/>
              </a:defRPr>
            </a:pPr>
            <a:r>
              <a:t>볼 수 있다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a:t>
            </a:r>
          </a:p>
        </p:txBody>
      </p:sp>
      <p:graphicFrame>
        <p:nvGraphicFramePr>
          <p:cNvPr id="6" name="Table 5"/>
          <p:cNvGraphicFramePr>
            <a:graphicFrameLocks noGrp="1"/>
          </p:cNvGraphicFramePr>
          <p:nvPr/>
        </p:nvGraphicFramePr>
        <p:xfrm>
          <a:off x="502920" y="1940560"/>
          <a:ext cx="11183110" cy="3307080"/>
        </p:xfrm>
        <a:graphic>
          <a:graphicData uri="http://schemas.openxmlformats.org/drawingml/2006/table">
            <a:tbl>
              <a:tblPr firstRow="1" bandRow="1">
                <a:tableStyleId>{5C22544A-7EE6-4342-B048-85BDC9FD1C3A}</a:tableStyleId>
              </a:tblPr>
              <a:tblGrid>
                <a:gridCol w="3243102"/>
                <a:gridCol w="3466764"/>
                <a:gridCol w="4473244"/>
              </a:tblGrid>
              <a:tr h="350266">
                <a:tc>
                  <a:txBody>
                    <a:bodyPr wrap="none"/>
                    <a:lstStyle/>
                    <a:p>
                      <a:pPr algn="l">
                        <a:lnSpc>
                          <a:spcPct val="110000"/>
                        </a:lnSpc>
                        <a:spcAft>
                          <a:spcPts val="0"/>
                        </a:spcAft>
                        <a:defRPr sz="1400" b="1">
                          <a:solidFill>
                            <a:srgbClr val="17694E"/>
                          </a:solidFill>
                          <a:latin typeface="Malgun Gothic"/>
                        </a:defRPr>
                      </a:pPr>
                      <a:r>
                        <a:t>책에서 가져온 관점</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이번에 해 본 것</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다음에 더 만들어 볼 기능 · 아직 미구현</a:t>
                      </a:r>
                    </a:p>
                  </a:txBody>
                  <a:tcPr marL="100584" marR="100584" marT="54864" marB="36576" anchor="t">
                    <a:solidFill>
                      <a:srgbClr val="E5F1E9"/>
                    </a:solidFill>
                  </a:tcPr>
                </a:tc>
              </a:tr>
              <a:tr h="572516">
                <a:tc>
                  <a:txBody>
                    <a:bodyPr wrap="none"/>
                    <a:lstStyle/>
                    <a:p>
                      <a:pPr algn="l">
                        <a:lnSpc>
                          <a:spcPct val="110000"/>
                        </a:lnSpc>
                        <a:spcAft>
                          <a:spcPts val="0"/>
                        </a:spcAft>
                        <a:defRPr sz="1400" b="0">
                          <a:solidFill>
                            <a:srgbClr val="182B25"/>
                          </a:solidFill>
                          <a:latin typeface="Malgun Gothic"/>
                        </a:defRPr>
                      </a:pPr>
                      <a:r>
                        <a:t>검토할 대상을 정하기</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배치와 품질검사를 연결</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재검사부터 검토 완료까지 한 건으로 관리 예: 불</a:t>
                      </a:r>
                    </a:p>
                    <a:p>
                      <a:pPr algn="l">
                        <a:lnSpc>
                          <a:spcPct val="110000"/>
                        </a:lnSpc>
                        <a:spcAft>
                          <a:spcPts val="0"/>
                        </a:spcAft>
                        <a:defRPr sz="1400" b="0">
                          <a:solidFill>
                            <a:srgbClr val="182B25"/>
                          </a:solidFill>
                          <a:latin typeface="Malgun Gothic"/>
                        </a:defRPr>
                      </a:pPr>
                      <a:r>
                        <a:t>합격 발견 → 재검사 요청 → 결과 확인 → 완료</a:t>
                      </a:r>
                    </a:p>
                  </a:txBody>
                  <a:tcPr marL="100584" marR="100584" marT="54864" marB="36576" anchor="t">
                    <a:solidFill>
                      <a:srgbClr val="FFFFFF"/>
                    </a:solidFill>
                  </a:tcPr>
                </a:tc>
              </a:tr>
              <a:tr h="794766">
                <a:tc>
                  <a:txBody>
                    <a:bodyPr wrap="none"/>
                    <a:lstStyle/>
                    <a:p>
                      <a:pPr algn="l">
                        <a:lnSpc>
                          <a:spcPct val="110000"/>
                        </a:lnSpc>
                        <a:spcAft>
                          <a:spcPts val="0"/>
                        </a:spcAft>
                        <a:defRPr sz="1400" b="0">
                          <a:solidFill>
                            <a:srgbClr val="182B25"/>
                          </a:solidFill>
                          <a:latin typeface="Malgun Gothic"/>
                        </a:defRPr>
                      </a:pPr>
                      <a:r>
                        <a:t>판단 근거를 정리하기</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사람이 검사 결과를 보고 사유 입력</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시스템이 여러 결과를 모아 검토할 이유를 알려</a:t>
                      </a:r>
                    </a:p>
                    <a:p>
                      <a:pPr algn="l">
                        <a:lnSpc>
                          <a:spcPct val="110000"/>
                        </a:lnSpc>
                        <a:spcAft>
                          <a:spcPts val="0"/>
                        </a:spcAft>
                        <a:defRPr sz="1400" b="0">
                          <a:solidFill>
                            <a:srgbClr val="182B25"/>
                          </a:solidFill>
                          <a:latin typeface="Malgun Gothic"/>
                        </a:defRPr>
                      </a:pPr>
                      <a:r>
                        <a:t>주기 예: “점도는 합격, 내용량은 불합격 → 내용</a:t>
                      </a:r>
                    </a:p>
                    <a:p>
                      <a:pPr algn="l">
                        <a:lnSpc>
                          <a:spcPct val="110000"/>
                        </a:lnSpc>
                        <a:spcAft>
                          <a:spcPts val="0"/>
                        </a:spcAft>
                        <a:defRPr sz="1400" b="0">
                          <a:solidFill>
                            <a:srgbClr val="182B25"/>
                          </a:solidFill>
                          <a:latin typeface="Malgun Gothic"/>
                        </a:defRPr>
                      </a:pPr>
                      <a:r>
                        <a:t>량 재검사 필요”</a:t>
                      </a:r>
                    </a:p>
                  </a:txBody>
                  <a:tcPr marL="100584" marR="100584" marT="54864" marB="36576" anchor="t">
                    <a:solidFill>
                      <a:srgbClr val="F7F9F6"/>
                    </a:solidFill>
                  </a:tcPr>
                </a:tc>
              </a:tr>
              <a:tr h="794766">
                <a:tc>
                  <a:txBody>
                    <a:bodyPr wrap="none"/>
                    <a:lstStyle/>
                    <a:p>
                      <a:pPr algn="l">
                        <a:lnSpc>
                          <a:spcPct val="110000"/>
                        </a:lnSpc>
                        <a:spcAft>
                          <a:spcPts val="0"/>
                        </a:spcAft>
                        <a:defRPr sz="1400" b="0">
                          <a:solidFill>
                            <a:srgbClr val="182B25"/>
                          </a:solidFill>
                          <a:latin typeface="Malgun Gothic"/>
                        </a:defRPr>
                      </a:pPr>
                      <a:r>
                        <a:t>누가 언제 행동할지 정하기</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보류할 때 사유를 받고 실행자 기록</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상태와 담당자에 따라 가능한 버튼을 정하기 예:</a:t>
                      </a:r>
                    </a:p>
                    <a:p>
                      <a:pPr algn="l">
                        <a:lnSpc>
                          <a:spcPct val="110000"/>
                        </a:lnSpc>
                        <a:spcAft>
                          <a:spcPts val="0"/>
                        </a:spcAft>
                        <a:defRPr sz="1400" b="0">
                          <a:solidFill>
                            <a:srgbClr val="182B25"/>
                          </a:solidFill>
                          <a:latin typeface="Malgun Gothic"/>
                        </a:defRPr>
                      </a:pPr>
                      <a:r>
                        <a:t>보류 상태에서는 재검토 가능 · 최종 승인은 지정</a:t>
                      </a:r>
                    </a:p>
                    <a:p>
                      <a:pPr algn="l">
                        <a:lnSpc>
                          <a:spcPct val="110000"/>
                        </a:lnSpc>
                        <a:spcAft>
                          <a:spcPts val="0"/>
                        </a:spcAft>
                        <a:defRPr sz="1400" b="0">
                          <a:solidFill>
                            <a:srgbClr val="182B25"/>
                          </a:solidFill>
                          <a:latin typeface="Malgun Gothic"/>
                        </a:defRPr>
                      </a:pPr>
                      <a:r>
                        <a:t>담당자만</a:t>
                      </a:r>
                    </a:p>
                  </a:txBody>
                  <a:tcPr marL="100584" marR="100584" marT="54864" marB="36576" anchor="t">
                    <a:solidFill>
                      <a:srgbClr val="FFFFFF"/>
                    </a:solidFill>
                  </a:tcPr>
                </a:tc>
              </a:tr>
              <a:tr h="794766">
                <a:tc>
                  <a:txBody>
                    <a:bodyPr wrap="none"/>
                    <a:lstStyle/>
                    <a:p>
                      <a:pPr algn="l">
                        <a:lnSpc>
                          <a:spcPct val="110000"/>
                        </a:lnSpc>
                        <a:spcAft>
                          <a:spcPts val="0"/>
                        </a:spcAft>
                        <a:defRPr sz="1400" b="0">
                          <a:solidFill>
                            <a:srgbClr val="182B25"/>
                          </a:solidFill>
                          <a:latin typeface="Malgun Gothic"/>
                        </a:defRPr>
                      </a:pPr>
                      <a:r>
                        <a:t>지금과 과거를 구분하기</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판정한 시각 기록</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현재 상태와 이전 판단을 함께 남기기 예: 어제</a:t>
                      </a:r>
                    </a:p>
                    <a:p>
                      <a:pPr algn="l">
                        <a:lnSpc>
                          <a:spcPct val="110000"/>
                        </a:lnSpc>
                        <a:spcAft>
                          <a:spcPts val="0"/>
                        </a:spcAft>
                        <a:defRPr sz="1400" b="0">
                          <a:solidFill>
                            <a:srgbClr val="182B25"/>
                          </a:solidFill>
                          <a:latin typeface="Malgun Gothic"/>
                        </a:defRPr>
                      </a:pPr>
                      <a:r>
                        <a:t>보류 → 오늘 승인 · 현재는 승인, 어제 보류 사유</a:t>
                      </a:r>
                    </a:p>
                    <a:p>
                      <a:pPr algn="l">
                        <a:lnSpc>
                          <a:spcPct val="110000"/>
                        </a:lnSpc>
                        <a:spcAft>
                          <a:spcPts val="0"/>
                        </a:spcAft>
                        <a:defRPr sz="1400" b="0">
                          <a:solidFill>
                            <a:srgbClr val="182B25"/>
                          </a:solidFill>
                          <a:latin typeface="Malgun Gothic"/>
                        </a:defRPr>
                      </a:pPr>
                      <a:r>
                        <a:t>도 조회</a:t>
                      </a:r>
                    </a:p>
                  </a:txBody>
                  <a:tcPr marL="100584" marR="100584" marT="54864" marB="36576" anchor="t">
                    <a:solidFill>
                      <a:srgbClr val="F7F9F6"/>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02 / DATA REVIEW · 공개용 예시 데이터</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예시 값을 나란히 보면, 추가 확인이 필요한 부분이 보였다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4</a:t>
            </a:r>
          </a:p>
        </p:txBody>
      </p:sp>
      <p:sp>
        <p:nvSpPr>
          <p:cNvPr id="6" name="Rounded Rectangle 5"/>
          <p:cNvSpPr/>
          <p:nvPr/>
        </p:nvSpPr>
        <p:spPr>
          <a:xfrm>
            <a:off x="502920" y="1496060"/>
            <a:ext cx="5477256" cy="3701923"/>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① 불량 유형은 ‘없음’, 수량은 양수</a:t>
            </a:r>
          </a:p>
        </p:txBody>
      </p:sp>
      <p:graphicFrame>
        <p:nvGraphicFramePr>
          <p:cNvPr id="8" name="Table 7"/>
          <p:cNvGraphicFramePr>
            <a:graphicFrameLocks noGrp="1"/>
          </p:cNvGraphicFramePr>
          <p:nvPr/>
        </p:nvGraphicFramePr>
        <p:xfrm>
          <a:off x="667512" y="2142744"/>
          <a:ext cx="5148070" cy="1337564"/>
        </p:xfrm>
        <a:graphic>
          <a:graphicData uri="http://schemas.openxmlformats.org/drawingml/2006/table">
            <a:tbl>
              <a:tblPr firstRow="1" bandRow="1">
                <a:tableStyleId>{5C22544A-7EE6-4342-B048-85BDC9FD1C3A}</a:tableStyleId>
              </a:tblPr>
              <a:tblGrid>
                <a:gridCol w="1492940"/>
                <a:gridCol w="1595902"/>
                <a:gridCol w="2059228"/>
              </a:tblGrid>
              <a:tr h="334391">
                <a:tc>
                  <a:txBody>
                    <a:bodyPr wrap="none"/>
                    <a:lstStyle/>
                    <a:p>
                      <a:pPr algn="l">
                        <a:lnSpc>
                          <a:spcPct val="110000"/>
                        </a:lnSpc>
                        <a:spcAft>
                          <a:spcPts val="0"/>
                        </a:spcAft>
                        <a:defRPr sz="1300" b="1">
                          <a:solidFill>
                            <a:srgbClr val="17694E"/>
                          </a:solidFill>
                          <a:latin typeface="Malgun Gothic"/>
                        </a:defRPr>
                      </a:pPr>
                      <a:r>
                        <a:t>배치 ID</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불량 유형</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불량 수량</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DEMO-01-02</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없음</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12</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DEMO-02-01</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없음</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34</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DEMO-02-02</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없음</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56</a:t>
                      </a:r>
                    </a:p>
                  </a:txBody>
                  <a:tcPr marL="100584" marR="100584" marT="54864" marB="36576" anchor="t">
                    <a:solidFill>
                      <a:srgbClr val="FFFFFF"/>
                    </a:solidFill>
                  </a:tcPr>
                </a:tc>
              </a:tr>
            </a:tbl>
          </a:graphicData>
        </a:graphic>
      </p:graphicFrame>
      <p:sp>
        <p:nvSpPr>
          <p:cNvPr id="9" name="TextBox 8"/>
          <p:cNvSpPr txBox="1"/>
          <p:nvPr/>
        </p:nvSpPr>
        <p:spPr>
          <a:xfrm>
            <a:off x="667512" y="3571748"/>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이런 조합이 18건 / 30건 ‘없음’의 의미와 수량의 기준을</a:t>
            </a:r>
          </a:p>
          <a:p>
            <a:pPr algn="l">
              <a:lnSpc>
                <a:spcPct val="112000"/>
              </a:lnSpc>
              <a:spcBef>
                <a:spcPts val="0"/>
              </a:spcBef>
              <a:spcAft>
                <a:spcPts val="0"/>
              </a:spcAft>
              <a:defRPr sz="1500" b="0">
                <a:solidFill>
                  <a:srgbClr val="182B25"/>
                </a:solidFill>
                <a:latin typeface="Malgun Gothic"/>
              </a:defRPr>
            </a:pPr>
            <a:r>
              <a:t>확인해야 한다.</a:t>
            </a:r>
          </a:p>
        </p:txBody>
      </p:sp>
      <p:sp>
        <p:nvSpPr>
          <p:cNvPr id="10" name="TextBox 9"/>
          <p:cNvSpPr txBox="1"/>
          <p:nvPr/>
        </p:nvSpPr>
        <p:spPr>
          <a:xfrm>
            <a:off x="667512" y="4212590"/>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출처: 08.defect_summary.csv · 설명용으로 재구성한 3행</a:t>
            </a:r>
          </a:p>
        </p:txBody>
      </p:sp>
      <p:sp>
        <p:nvSpPr>
          <p:cNvPr id="11" name="Rounded Rectangle 10"/>
          <p:cNvSpPr/>
          <p:nvPr/>
        </p:nvSpPr>
        <p:spPr>
          <a:xfrm>
            <a:off x="6208776" y="1496060"/>
            <a:ext cx="5477256" cy="3701923"/>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660652"/>
            <a:ext cx="5148072" cy="708151"/>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② 측정값만으로 합불 기준을 알기 어려</a:t>
            </a:r>
          </a:p>
          <a:p>
            <a:pPr algn="l">
              <a:lnSpc>
                <a:spcPct val="112000"/>
              </a:lnSpc>
              <a:spcBef>
                <a:spcPts val="0"/>
              </a:spcBef>
              <a:spcAft>
                <a:spcPts val="0"/>
              </a:spcAft>
              <a:defRPr sz="2000" b="1">
                <a:solidFill>
                  <a:srgbClr val="17694E"/>
                </a:solidFill>
                <a:latin typeface="Malgun Gothic"/>
              </a:defRPr>
            </a:pPr>
            <a:r>
              <a:t>움</a:t>
            </a:r>
          </a:p>
        </p:txBody>
      </p:sp>
      <p:graphicFrame>
        <p:nvGraphicFramePr>
          <p:cNvPr id="13" name="Table 12"/>
          <p:cNvGraphicFramePr>
            <a:graphicFrameLocks noGrp="1"/>
          </p:cNvGraphicFramePr>
          <p:nvPr/>
        </p:nvGraphicFramePr>
        <p:xfrm>
          <a:off x="6373368" y="2460243"/>
          <a:ext cx="5148070" cy="1337564"/>
        </p:xfrm>
        <a:graphic>
          <a:graphicData uri="http://schemas.openxmlformats.org/drawingml/2006/table">
            <a:tbl>
              <a:tblPr firstRow="1" bandRow="1">
                <a:tableStyleId>{5C22544A-7EE6-4342-B048-85BDC9FD1C3A}</a:tableStyleId>
              </a:tblPr>
              <a:tblGrid>
                <a:gridCol w="1492940"/>
                <a:gridCol w="1595902"/>
                <a:gridCol w="2059228"/>
              </a:tblGrid>
              <a:tr h="334391">
                <a:tc>
                  <a:txBody>
                    <a:bodyPr wrap="none"/>
                    <a:lstStyle/>
                    <a:p>
                      <a:pPr algn="l">
                        <a:lnSpc>
                          <a:spcPct val="110000"/>
                        </a:lnSpc>
                        <a:spcAft>
                          <a:spcPts val="0"/>
                        </a:spcAft>
                        <a:defRPr sz="1300" b="1">
                          <a:solidFill>
                            <a:srgbClr val="17694E"/>
                          </a:solidFill>
                          <a:latin typeface="Malgun Gothic"/>
                        </a:defRPr>
                      </a:pPr>
                      <a:r>
                        <a:t>배치 ID</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내용량 측정값</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검사 결과</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DEMO-04-01</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97.40</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합격</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DEMO-01-02</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98.20</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불합격</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DEMO-02-02</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98.21</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합격</a:t>
                      </a:r>
                    </a:p>
                  </a:txBody>
                  <a:tcPr marL="100584" marR="100584" marT="54864" marB="36576" anchor="t">
                    <a:solidFill>
                      <a:srgbClr val="FFFFFF"/>
                    </a:solidFill>
                  </a:tcPr>
                </a:tc>
              </a:tr>
            </a:tbl>
          </a:graphicData>
        </a:graphic>
      </p:graphicFrame>
      <p:sp>
        <p:nvSpPr>
          <p:cNvPr id="14" name="TextBox 13"/>
          <p:cNvSpPr txBox="1"/>
          <p:nvPr/>
        </p:nvSpPr>
        <p:spPr>
          <a:xfrm>
            <a:off x="6373368" y="3889247"/>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합격·불합격 측정값의 범위가 겹친다. 규격·판정 기준 없</a:t>
            </a:r>
          </a:p>
          <a:p>
            <a:pPr algn="l">
              <a:lnSpc>
                <a:spcPct val="112000"/>
              </a:lnSpc>
              <a:spcBef>
                <a:spcPts val="0"/>
              </a:spcBef>
              <a:spcAft>
                <a:spcPts val="0"/>
              </a:spcAft>
              <a:defRPr sz="1500" b="0">
                <a:solidFill>
                  <a:srgbClr val="182B25"/>
                </a:solidFill>
                <a:latin typeface="Malgun Gothic"/>
              </a:defRPr>
            </a:pPr>
            <a:r>
              <a:t>이 새 기준을 정할 수 없다.</a:t>
            </a:r>
          </a:p>
        </p:txBody>
      </p:sp>
      <p:sp>
        <p:nvSpPr>
          <p:cNvPr id="15" name="TextBox 14"/>
          <p:cNvSpPr txBox="1"/>
          <p:nvPr/>
        </p:nvSpPr>
        <p:spPr>
          <a:xfrm>
            <a:off x="6373368" y="4530090"/>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출처: 07.quality_inspection.csv · 내용량 검사 예시 3행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02 / USE CASE · 관찰에서 설계로</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데이터 확인이 필요한 상황을 사람의 검토와 기록으로 연결했다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5</a:t>
            </a:r>
          </a:p>
        </p:txBody>
      </p:sp>
      <p:sp>
        <p:nvSpPr>
          <p:cNvPr id="6" name="Rounded Rectangle 5"/>
          <p:cNvSpPr/>
          <p:nvPr/>
        </p:nvSpPr>
        <p:spPr>
          <a:xfrm>
            <a:off x="502920" y="1496060"/>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관찰</a:t>
            </a:r>
          </a:p>
        </p:txBody>
      </p:sp>
      <p:sp>
        <p:nvSpPr>
          <p:cNvPr id="8" name="TextBox 7"/>
          <p:cNvSpPr txBox="1"/>
          <p:nvPr/>
        </p:nvSpPr>
        <p:spPr>
          <a:xfrm>
            <a:off x="667512" y="2142744"/>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품질 불합격 8건이 있지만, 원천 출</a:t>
            </a:r>
          </a:p>
          <a:p>
            <a:pPr algn="l">
              <a:lnSpc>
                <a:spcPct val="112000"/>
              </a:lnSpc>
              <a:spcBef>
                <a:spcPts val="0"/>
              </a:spcBef>
              <a:spcAft>
                <a:spcPts val="0"/>
              </a:spcAft>
              <a:defRPr sz="1500" b="0">
                <a:solidFill>
                  <a:srgbClr val="182B25"/>
                </a:solidFill>
                <a:latin typeface="Malgun Gothic"/>
              </a:defRPr>
            </a:pPr>
            <a:r>
              <a:t>하 상태는 모두 완료로 해석된다.</a:t>
            </a:r>
          </a:p>
        </p:txBody>
      </p:sp>
      <p:sp>
        <p:nvSpPr>
          <p:cNvPr id="9" name="Rounded Rectangle 8"/>
          <p:cNvSpPr/>
          <p:nvPr/>
        </p:nvSpPr>
        <p:spPr>
          <a:xfrm>
            <a:off x="4306824" y="1496060"/>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질문</a:t>
            </a:r>
          </a:p>
        </p:txBody>
      </p:sp>
      <p:sp>
        <p:nvSpPr>
          <p:cNvPr id="11" name="TextBox 10"/>
          <p:cNvSpPr txBox="1"/>
          <p:nvPr/>
        </p:nvSpPr>
        <p:spPr>
          <a:xfrm>
            <a:off x="4471416" y="2142744"/>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검사 근거와 데이터의 불확실성을</a:t>
            </a:r>
          </a:p>
          <a:p>
            <a:pPr algn="l">
              <a:lnSpc>
                <a:spcPct val="112000"/>
              </a:lnSpc>
              <a:spcBef>
                <a:spcPts val="0"/>
              </a:spcBef>
              <a:spcAft>
                <a:spcPts val="0"/>
              </a:spcAft>
              <a:defRPr sz="1500" b="0">
                <a:solidFill>
                  <a:srgbClr val="182B25"/>
                </a:solidFill>
                <a:latin typeface="Malgun Gothic"/>
              </a:defRPr>
            </a:pPr>
            <a:r>
              <a:t>누가 확인하고 판단할 것인가?</a:t>
            </a:r>
          </a:p>
        </p:txBody>
      </p:sp>
      <p:sp>
        <p:nvSpPr>
          <p:cNvPr id="12" name="Rounded Rectangle 11"/>
          <p:cNvSpPr/>
          <p:nvPr/>
        </p:nvSpPr>
        <p:spPr>
          <a:xfrm>
            <a:off x="8110728" y="1496060"/>
            <a:ext cx="3575304"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60652"/>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유즈케이스</a:t>
            </a:r>
          </a:p>
        </p:txBody>
      </p:sp>
      <p:sp>
        <p:nvSpPr>
          <p:cNvPr id="14" name="TextBox 13"/>
          <p:cNvSpPr txBox="1"/>
          <p:nvPr/>
        </p:nvSpPr>
        <p:spPr>
          <a:xfrm>
            <a:off x="8275320" y="2142744"/>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배치를 열어 검사 근거를 보고, 검</a:t>
            </a:r>
          </a:p>
          <a:p>
            <a:pPr algn="l">
              <a:lnSpc>
                <a:spcPct val="112000"/>
              </a:lnSpc>
              <a:spcBef>
                <a:spcPts val="0"/>
              </a:spcBef>
              <a:spcAft>
                <a:spcPts val="0"/>
              </a:spcAft>
              <a:defRPr sz="1500" b="0">
                <a:solidFill>
                  <a:srgbClr val="182B25"/>
                </a:solidFill>
                <a:latin typeface="Malgun Gothic"/>
              </a:defRPr>
            </a:pPr>
            <a:r>
              <a:t>토 상태와 이유를 남긴다.</a:t>
            </a:r>
          </a:p>
        </p:txBody>
      </p:sp>
      <p:graphicFrame>
        <p:nvGraphicFramePr>
          <p:cNvPr id="15" name="Table 14"/>
          <p:cNvGraphicFramePr>
            <a:graphicFrameLocks noGrp="1"/>
          </p:cNvGraphicFramePr>
          <p:nvPr/>
        </p:nvGraphicFramePr>
        <p:xfrm>
          <a:off x="502920" y="3249929"/>
          <a:ext cx="11183110" cy="1623314"/>
        </p:xfrm>
        <a:graphic>
          <a:graphicData uri="http://schemas.openxmlformats.org/drawingml/2006/table">
            <a:tbl>
              <a:tblPr firstRow="1" bandRow="1">
                <a:tableStyleId>{5C22544A-7EE6-4342-B048-85BDC9FD1C3A}</a:tableStyleId>
              </a:tblPr>
              <a:tblGrid>
                <a:gridCol w="3243102"/>
                <a:gridCol w="3466764"/>
                <a:gridCol w="4473244"/>
              </a:tblGrid>
              <a:tr h="350266">
                <a:tc>
                  <a:txBody>
                    <a:bodyPr wrap="none"/>
                    <a:lstStyle/>
                    <a:p>
                      <a:pPr algn="l">
                        <a:lnSpc>
                          <a:spcPct val="110000"/>
                        </a:lnSpc>
                        <a:spcAft>
                          <a:spcPts val="0"/>
                        </a:spcAft>
                        <a:defRPr sz="1400" b="1">
                          <a:solidFill>
                            <a:srgbClr val="17694E"/>
                          </a:solidFill>
                          <a:latin typeface="Malgun Gothic"/>
                        </a:defRPr>
                      </a:pPr>
                      <a:r>
                        <a:t>DEMO-01-02의 기록</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공개용 예시 값</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출처</a:t>
                      </a:r>
                    </a:p>
                  </a:txBody>
                  <a:tcPr marL="100584" marR="100584" marT="54864" marB="36576" anchor="t">
                    <a:solidFill>
                      <a:srgbClr val="E5F1E9"/>
                    </a:solidFill>
                  </a:tcPr>
                </a:tc>
              </a:tr>
              <a:tr h="350266">
                <a:tc>
                  <a:txBody>
                    <a:bodyPr wrap="none"/>
                    <a:lstStyle/>
                    <a:p>
                      <a:pPr algn="l">
                        <a:lnSpc>
                          <a:spcPct val="110000"/>
                        </a:lnSpc>
                        <a:spcAft>
                          <a:spcPts val="0"/>
                        </a:spcAft>
                        <a:defRPr sz="1400" b="0">
                          <a:solidFill>
                            <a:srgbClr val="182B25"/>
                          </a:solidFill>
                          <a:latin typeface="Malgun Gothic"/>
                        </a:defRPr>
                      </a:pPr>
                      <a:r>
                        <a:t>내용량 검사</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불합격 · 98.20</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07.quality_inspection.csv</a:t>
                      </a:r>
                    </a:p>
                  </a:txBody>
                  <a:tcPr marL="100584" marR="100584" marT="54864" marB="36576" anchor="t">
                    <a:solidFill>
                      <a:srgbClr val="FFFFFF"/>
                    </a:solidFill>
                  </a:tcPr>
                </a:tc>
              </a:tr>
              <a:tr h="350266">
                <a:tc>
                  <a:txBody>
                    <a:bodyPr wrap="none"/>
                    <a:lstStyle/>
                    <a:p>
                      <a:pPr algn="l">
                        <a:lnSpc>
                          <a:spcPct val="110000"/>
                        </a:lnSpc>
                        <a:spcAft>
                          <a:spcPts val="0"/>
                        </a:spcAft>
                        <a:defRPr sz="1400" b="0">
                          <a:solidFill>
                            <a:srgbClr val="182B25"/>
                          </a:solidFill>
                          <a:latin typeface="Malgun Gothic"/>
                        </a:defRPr>
                      </a:pPr>
                      <a:r>
                        <a:t>불량요약</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유형 없음 · 수량 12</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08.defect_summary.csv</a:t>
                      </a:r>
                    </a:p>
                  </a:txBody>
                  <a:tcPr marL="100584" marR="100584" marT="54864" marB="36576" anchor="t">
                    <a:solidFill>
                      <a:srgbClr val="F7F9F6"/>
                    </a:solidFill>
                  </a:tcPr>
                </a:tc>
              </a:tr>
              <a:tr h="572516">
                <a:tc>
                  <a:txBody>
                    <a:bodyPr wrap="none"/>
                    <a:lstStyle/>
                    <a:p>
                      <a:pPr algn="l">
                        <a:lnSpc>
                          <a:spcPct val="110000"/>
                        </a:lnSpc>
                        <a:spcAft>
                          <a:spcPts val="0"/>
                        </a:spcAft>
                        <a:defRPr sz="1400" b="0">
                          <a:solidFill>
                            <a:srgbClr val="182B25"/>
                          </a:solidFill>
                          <a:latin typeface="Malgun Gothic"/>
                        </a:defRPr>
                      </a:pPr>
                      <a:r>
                        <a:t>출하실적</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SHIP-DEMO-001 · 출하일 2025-01-0</a:t>
                      </a:r>
                    </a:p>
                    <a:p>
                      <a:pPr algn="l">
                        <a:lnSpc>
                          <a:spcPct val="110000"/>
                        </a:lnSpc>
                        <a:spcAft>
                          <a:spcPts val="0"/>
                        </a:spcAft>
                        <a:defRPr sz="1400" b="0">
                          <a:solidFill>
                            <a:srgbClr val="182B25"/>
                          </a:solidFill>
                          <a:latin typeface="Malgun Gothic"/>
                        </a:defRPr>
                      </a:pPr>
                      <a:r>
                        <a:t>2</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11.shipment_order → 12.shipment_result</a:t>
                      </a:r>
                    </a:p>
                  </a:txBody>
                  <a:tcPr marL="100584" marR="100584" marT="54864" marB="36576" anchor="t">
                    <a:solidFill>
                      <a:srgbClr val="FFFFFF"/>
                    </a:solidFill>
                  </a:tcPr>
                </a:tc>
              </a:tr>
            </a:tbl>
          </a:graphicData>
        </a:graphic>
      </p:graphicFrame>
      <p:sp>
        <p:nvSpPr>
          <p:cNvPr id="16" name="TextBox 15"/>
          <p:cNvSpPr txBox="1"/>
          <p:nvPr/>
        </p:nvSpPr>
        <p:spPr>
          <a:xfrm>
            <a:off x="502920" y="5056123"/>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검사·불량은 batch_id로, 출하실적은 출하계획의 shipment_id를 거쳐 연결했다.</a:t>
            </a:r>
          </a:p>
        </p:txBody>
      </p:sp>
      <p:sp>
        <p:nvSpPr>
          <p:cNvPr id="17" name="TextBox 16"/>
          <p:cNvSpPr txBox="1"/>
          <p:nvPr/>
        </p:nvSpPr>
        <p:spPr>
          <a:xfrm>
            <a:off x="502920" y="5466079"/>
            <a:ext cx="11183112" cy="4541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과거 데이터로 출하 전 검토 상황을 재현하는 학습 사례다. 검사·출하 시점과 업무 규칙이 부족하므로 실제 부적합 출하로 단정하지 않는다. 출하 완료는</a:t>
            </a:r>
          </a:p>
          <a:p>
            <a:pPr algn="l">
              <a:lnSpc>
                <a:spcPct val="112000"/>
              </a:lnSpc>
              <a:spcBef>
                <a:spcPts val="0"/>
              </a:spcBef>
              <a:spcAft>
                <a:spcPts val="0"/>
              </a:spcAft>
              <a:defRPr sz="1200" b="0">
                <a:solidFill>
                  <a:srgbClr val="4C6258"/>
                </a:solidFill>
                <a:latin typeface="Malgun Gothic"/>
              </a:defRPr>
            </a:pPr>
            <a:r>
              <a:t>손상된 원본 상태의 문서화된 복원 매핑에 따른 해석이다.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02 / USE CASE · 배치 출하 검토</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검사 결과를 보고, 사람이 검토 결과를 남긴다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6</a:t>
            </a:r>
          </a:p>
        </p:txBody>
      </p:sp>
      <p:sp>
        <p:nvSpPr>
          <p:cNvPr id="6" name="Rounded Rectangle 5"/>
          <p:cNvSpPr/>
          <p:nvPr/>
        </p:nvSpPr>
        <p:spPr>
          <a:xfrm>
            <a:off x="502920" y="1496060"/>
            <a:ext cx="2624328"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대상</a:t>
            </a:r>
          </a:p>
        </p:txBody>
      </p:sp>
      <p:sp>
        <p:nvSpPr>
          <p:cNvPr id="8" name="TextBox 7"/>
          <p:cNvSpPr txBox="1"/>
          <p:nvPr/>
        </p:nvSpPr>
        <p:spPr>
          <a:xfrm>
            <a:off x="667512" y="2063368"/>
            <a:ext cx="2295144"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배치 선택</a:t>
            </a:r>
          </a:p>
        </p:txBody>
      </p:sp>
      <p:sp>
        <p:nvSpPr>
          <p:cNvPr id="9" name="TextBox 8"/>
          <p:cNvSpPr txBox="1"/>
          <p:nvPr/>
        </p:nvSpPr>
        <p:spPr>
          <a:xfrm>
            <a:off x="667512" y="2545460"/>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DEMO-01-02</a:t>
            </a:r>
          </a:p>
        </p:txBody>
      </p:sp>
      <p:sp>
        <p:nvSpPr>
          <p:cNvPr id="10" name="Rounded Rectangle 9"/>
          <p:cNvSpPr/>
          <p:nvPr/>
        </p:nvSpPr>
        <p:spPr>
          <a:xfrm>
            <a:off x="3355848" y="1496060"/>
            <a:ext cx="2624328"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660652"/>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근거</a:t>
            </a:r>
          </a:p>
        </p:txBody>
      </p:sp>
      <p:sp>
        <p:nvSpPr>
          <p:cNvPr id="12" name="TextBox 11"/>
          <p:cNvSpPr txBox="1"/>
          <p:nvPr/>
        </p:nvSpPr>
        <p:spPr>
          <a:xfrm>
            <a:off x="3520440" y="2063368"/>
            <a:ext cx="2295144"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검사 확인</a:t>
            </a:r>
          </a:p>
        </p:txBody>
      </p:sp>
      <p:sp>
        <p:nvSpPr>
          <p:cNvPr id="13" name="TextBox 12"/>
          <p:cNvSpPr txBox="1"/>
          <p:nvPr/>
        </p:nvSpPr>
        <p:spPr>
          <a:xfrm>
            <a:off x="3520440" y="2545460"/>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내용량 불합격 점도 합격</a:t>
            </a:r>
          </a:p>
        </p:txBody>
      </p:sp>
      <p:sp>
        <p:nvSpPr>
          <p:cNvPr id="14" name="Rounded Rectangle 13"/>
          <p:cNvSpPr/>
          <p:nvPr/>
        </p:nvSpPr>
        <p:spPr>
          <a:xfrm>
            <a:off x="6208776" y="1496060"/>
            <a:ext cx="2624328"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1660652"/>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판단</a:t>
            </a:r>
          </a:p>
        </p:txBody>
      </p:sp>
      <p:sp>
        <p:nvSpPr>
          <p:cNvPr id="16" name="TextBox 15"/>
          <p:cNvSpPr txBox="1"/>
          <p:nvPr/>
        </p:nvSpPr>
        <p:spPr>
          <a:xfrm>
            <a:off x="6373368" y="2063368"/>
            <a:ext cx="2295144"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검토 결과 선택</a:t>
            </a:r>
          </a:p>
        </p:txBody>
      </p:sp>
      <p:sp>
        <p:nvSpPr>
          <p:cNvPr id="17" name="TextBox 16"/>
          <p:cNvSpPr txBox="1"/>
          <p:nvPr/>
        </p:nvSpPr>
        <p:spPr>
          <a:xfrm>
            <a:off x="6373368" y="2545460"/>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검토중 · 보류 · 승인</a:t>
            </a:r>
          </a:p>
        </p:txBody>
      </p:sp>
      <p:sp>
        <p:nvSpPr>
          <p:cNvPr id="18" name="Rounded Rectangle 17"/>
          <p:cNvSpPr/>
          <p:nvPr/>
        </p:nvSpPr>
        <p:spPr>
          <a:xfrm>
            <a:off x="9061704" y="1496060"/>
            <a:ext cx="2624328"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26296" y="1660652"/>
            <a:ext cx="2295144"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결과</a:t>
            </a:r>
          </a:p>
        </p:txBody>
      </p:sp>
      <p:sp>
        <p:nvSpPr>
          <p:cNvPr id="20" name="TextBox 19"/>
          <p:cNvSpPr txBox="1"/>
          <p:nvPr/>
        </p:nvSpPr>
        <p:spPr>
          <a:xfrm>
            <a:off x="9226296" y="2063368"/>
            <a:ext cx="2295144"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판단 기록</a:t>
            </a:r>
          </a:p>
        </p:txBody>
      </p:sp>
      <p:sp>
        <p:nvSpPr>
          <p:cNvPr id="21" name="TextBox 20"/>
          <p:cNvSpPr txBox="1"/>
          <p:nvPr/>
        </p:nvSpPr>
        <p:spPr>
          <a:xfrm>
            <a:off x="9226296" y="2545460"/>
            <a:ext cx="2295144"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상태 · 사유 판정자 · 판정</a:t>
            </a:r>
          </a:p>
          <a:p>
            <a:pPr algn="l">
              <a:lnSpc>
                <a:spcPct val="112000"/>
              </a:lnSpc>
              <a:spcBef>
                <a:spcPts val="0"/>
              </a:spcBef>
              <a:spcAft>
                <a:spcPts val="0"/>
              </a:spcAft>
              <a:defRPr sz="1500" b="0">
                <a:solidFill>
                  <a:srgbClr val="182B25"/>
                </a:solidFill>
                <a:latin typeface="Malgun Gothic"/>
              </a:defRPr>
            </a:pPr>
            <a:r>
              <a:t>시각</a:t>
            </a:r>
          </a:p>
        </p:txBody>
      </p:sp>
      <p:sp>
        <p:nvSpPr>
          <p:cNvPr id="22" name="Rounded Rectangle 21"/>
          <p:cNvSpPr/>
          <p:nvPr/>
        </p:nvSpPr>
        <p:spPr>
          <a:xfrm>
            <a:off x="502920" y="3652647"/>
            <a:ext cx="5477256"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817239"/>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범위를 작게 잡았다</a:t>
            </a:r>
          </a:p>
        </p:txBody>
      </p:sp>
      <p:sp>
        <p:nvSpPr>
          <p:cNvPr id="24" name="TextBox 23"/>
          <p:cNvSpPr txBox="1"/>
          <p:nvPr/>
        </p:nvSpPr>
        <p:spPr>
          <a:xfrm>
            <a:off x="667512" y="4299331"/>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배치와 검사로 시작해, 한 번의 판단이 실제 속성 변경으</a:t>
            </a:r>
          </a:p>
          <a:p>
            <a:pPr algn="l">
              <a:lnSpc>
                <a:spcPct val="112000"/>
              </a:lnSpc>
              <a:spcBef>
                <a:spcPts val="0"/>
              </a:spcBef>
              <a:spcAft>
                <a:spcPts val="0"/>
              </a:spcAft>
              <a:defRPr sz="1500" b="0">
                <a:solidFill>
                  <a:srgbClr val="182B25"/>
                </a:solidFill>
                <a:latin typeface="Malgun Gothic"/>
              </a:defRPr>
            </a:pPr>
            <a:r>
              <a:t>로 이어지는지 확인했다.</a:t>
            </a:r>
          </a:p>
        </p:txBody>
      </p:sp>
      <p:sp>
        <p:nvSpPr>
          <p:cNvPr id="25" name="Rounded Rectangle 24"/>
          <p:cNvSpPr/>
          <p:nvPr/>
        </p:nvSpPr>
        <p:spPr>
          <a:xfrm>
            <a:off x="6208776" y="3652647"/>
            <a:ext cx="5477256" cy="1552702"/>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8" y="3817239"/>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실습에서 구현한 행동</a:t>
            </a:r>
          </a:p>
        </p:txBody>
      </p:sp>
      <p:sp>
        <p:nvSpPr>
          <p:cNvPr id="27" name="TextBox 26"/>
          <p:cNvSpPr txBox="1"/>
          <p:nvPr/>
        </p:nvSpPr>
        <p:spPr>
          <a:xfrm>
            <a:off x="6373368" y="4299331"/>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출하 검토 결과를 기록한다. 실제 물류 시스템의 출하 차</a:t>
            </a:r>
          </a:p>
          <a:p>
            <a:pPr algn="l">
              <a:lnSpc>
                <a:spcPct val="112000"/>
              </a:lnSpc>
              <a:spcBef>
                <a:spcPts val="0"/>
              </a:spcBef>
              <a:spcAft>
                <a:spcPts val="0"/>
              </a:spcAft>
              <a:defRPr sz="1500" b="0">
                <a:solidFill>
                  <a:srgbClr val="182B25"/>
                </a:solidFill>
                <a:latin typeface="Malgun Gothic"/>
              </a:defRPr>
            </a:pPr>
            <a:r>
              <a:t>단 연동은 후속 범위다.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03 / SHARED ENVIRONMENT · 공유 환경 사용 경험</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공유 Foundry 환경에서 브랜치를 만들어 실습했다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7</a:t>
            </a:r>
          </a:p>
        </p:txBody>
      </p:sp>
      <p:sp>
        <p:nvSpPr>
          <p:cNvPr id="6" name="TextBox 5"/>
          <p:cNvSpPr txBox="1"/>
          <p:nvPr/>
        </p:nvSpPr>
        <p:spPr>
          <a:xfrm>
            <a:off x="502920" y="1496060"/>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브랜치에서 데이터를 준비하고, 객체·링크·액션을 설정해 봤다.</a:t>
            </a:r>
          </a:p>
        </p:txBody>
      </p:sp>
      <p:sp>
        <p:nvSpPr>
          <p:cNvPr id="7" name="Rounded Rectangle 6"/>
          <p:cNvSpPr/>
          <p:nvPr/>
        </p:nvSpPr>
        <p:spPr>
          <a:xfrm>
            <a:off x="502920" y="1985391"/>
            <a:ext cx="3575304"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1499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01</a:t>
            </a:r>
          </a:p>
        </p:txBody>
      </p:sp>
      <p:sp>
        <p:nvSpPr>
          <p:cNvPr id="9" name="TextBox 8"/>
          <p:cNvSpPr txBox="1"/>
          <p:nvPr/>
        </p:nvSpPr>
        <p:spPr>
          <a:xfrm>
            <a:off x="667512" y="25527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공유 환경 참여</a:t>
            </a:r>
          </a:p>
        </p:txBody>
      </p:sp>
      <p:sp>
        <p:nvSpPr>
          <p:cNvPr id="10" name="TextBox 9"/>
          <p:cNvSpPr txBox="1"/>
          <p:nvPr/>
        </p:nvSpPr>
        <p:spPr>
          <a:xfrm>
            <a:off x="667512" y="303479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공유 Foundry 환경에 들어갔다.</a:t>
            </a:r>
          </a:p>
        </p:txBody>
      </p:sp>
      <p:sp>
        <p:nvSpPr>
          <p:cNvPr id="11" name="Rounded Rectangle 10"/>
          <p:cNvSpPr/>
          <p:nvPr/>
        </p:nvSpPr>
        <p:spPr>
          <a:xfrm>
            <a:off x="4306824" y="1985391"/>
            <a:ext cx="3575304"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21499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02</a:t>
            </a:r>
          </a:p>
        </p:txBody>
      </p:sp>
      <p:sp>
        <p:nvSpPr>
          <p:cNvPr id="13" name="TextBox 12"/>
          <p:cNvSpPr txBox="1"/>
          <p:nvPr/>
        </p:nvSpPr>
        <p:spPr>
          <a:xfrm>
            <a:off x="4471416" y="25527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실습용 브랜치 생성</a:t>
            </a:r>
          </a:p>
        </p:txBody>
      </p:sp>
      <p:sp>
        <p:nvSpPr>
          <p:cNvPr id="14" name="TextBox 13"/>
          <p:cNvSpPr txBox="1"/>
          <p:nvPr/>
        </p:nvSpPr>
        <p:spPr>
          <a:xfrm>
            <a:off x="4471416" y="303479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내가 작업할 브랜치를 만들었다.</a:t>
            </a:r>
          </a:p>
        </p:txBody>
      </p:sp>
      <p:sp>
        <p:nvSpPr>
          <p:cNvPr id="15" name="Rounded Rectangle 14"/>
          <p:cNvSpPr/>
          <p:nvPr/>
        </p:nvSpPr>
        <p:spPr>
          <a:xfrm>
            <a:off x="8110728" y="1985391"/>
            <a:ext cx="3575304" cy="1955419"/>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149983"/>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03</a:t>
            </a:r>
          </a:p>
        </p:txBody>
      </p:sp>
      <p:sp>
        <p:nvSpPr>
          <p:cNvPr id="17" name="TextBox 16"/>
          <p:cNvSpPr txBox="1"/>
          <p:nvPr/>
        </p:nvSpPr>
        <p:spPr>
          <a:xfrm>
            <a:off x="8275320" y="2552700"/>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직접 설정·실행</a:t>
            </a:r>
          </a:p>
        </p:txBody>
      </p:sp>
      <p:sp>
        <p:nvSpPr>
          <p:cNvPr id="18" name="TextBox 17"/>
          <p:cNvSpPr txBox="1"/>
          <p:nvPr/>
        </p:nvSpPr>
        <p:spPr>
          <a:xfrm>
            <a:off x="8275320" y="3034792"/>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데이터를 준비하고, 객체·링크·액션</a:t>
            </a:r>
          </a:p>
          <a:p>
            <a:pPr algn="l">
              <a:lnSpc>
                <a:spcPct val="112000"/>
              </a:lnSpc>
              <a:spcBef>
                <a:spcPts val="0"/>
              </a:spcBef>
              <a:spcAft>
                <a:spcPts val="0"/>
              </a:spcAft>
              <a:defRPr sz="1500" b="0">
                <a:solidFill>
                  <a:srgbClr val="182B25"/>
                </a:solidFill>
                <a:latin typeface="Malgun Gothic"/>
              </a:defRPr>
            </a:pPr>
            <a:r>
              <a:t>을 설정해 봤다.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04 / AI FDE · 두 가지 사용 방식</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① AI에게 직접 만들어 보라고 요청했다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8</a:t>
            </a:r>
          </a:p>
        </p:txBody>
      </p:sp>
      <p:sp>
        <p:nvSpPr>
          <p:cNvPr id="6" name="TextBox 5"/>
          <p:cNvSpPr txBox="1"/>
          <p:nvPr/>
        </p:nvSpPr>
        <p:spPr>
          <a:xfrm>
            <a:off x="502920" y="1496060"/>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목적: 요구사항을 실제 자산으로 얼마나 잘 구현하는지 보기</a:t>
            </a:r>
          </a:p>
        </p:txBody>
      </p:sp>
      <p:sp>
        <p:nvSpPr>
          <p:cNvPr id="7" name="Rounded Rectangle 6"/>
          <p:cNvSpPr/>
          <p:nvPr/>
        </p:nvSpPr>
        <p:spPr>
          <a:xfrm>
            <a:off x="502920" y="1985391"/>
            <a:ext cx="5477256" cy="20347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149983"/>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핵심 요청 · 재구성</a:t>
            </a:r>
          </a:p>
        </p:txBody>
      </p:sp>
      <p:sp>
        <p:nvSpPr>
          <p:cNvPr id="9" name="TextBox 8"/>
          <p:cNvSpPr txBox="1"/>
          <p:nvPr/>
        </p:nvSpPr>
        <p:spPr>
          <a:xfrm>
            <a:off x="667512" y="2552700"/>
            <a:ext cx="5148072" cy="708151"/>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데이터와 설계 원칙을 바탕으로 파이프라</a:t>
            </a:r>
          </a:p>
          <a:p>
            <a:pPr algn="l">
              <a:lnSpc>
                <a:spcPct val="112000"/>
              </a:lnSpc>
              <a:spcBef>
                <a:spcPts val="0"/>
              </a:spcBef>
              <a:spcAft>
                <a:spcPts val="0"/>
              </a:spcAft>
              <a:defRPr sz="2000" b="1">
                <a:solidFill>
                  <a:srgbClr val="17694E"/>
                </a:solidFill>
                <a:latin typeface="Malgun Gothic"/>
              </a:defRPr>
            </a:pPr>
            <a:r>
              <a:t>인과 객체·링크·액션을 직접 만들어 줘.</a:t>
            </a:r>
          </a:p>
        </p:txBody>
      </p:sp>
      <p:sp>
        <p:nvSpPr>
          <p:cNvPr id="10" name="TextBox 9"/>
          <p:cNvSpPr txBox="1"/>
          <p:nvPr/>
        </p:nvSpPr>
        <p:spPr>
          <a:xfrm>
            <a:off x="667512" y="3352292"/>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AI가 구현 · 나는 만들어진 결과 확인</a:t>
            </a:r>
          </a:p>
        </p:txBody>
      </p:sp>
      <p:sp>
        <p:nvSpPr>
          <p:cNvPr id="11" name="Rounded Rectangle 10"/>
          <p:cNvSpPr/>
          <p:nvPr/>
        </p:nvSpPr>
        <p:spPr>
          <a:xfrm>
            <a:off x="6208776" y="1985391"/>
            <a:ext cx="5477256" cy="20347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149983"/>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함께 전달한 공통 맥락</a:t>
            </a:r>
          </a:p>
        </p:txBody>
      </p:sp>
      <p:sp>
        <p:nvSpPr>
          <p:cNvPr id="13" name="TextBox 12"/>
          <p:cNvSpPr txBox="1"/>
          <p:nvPr/>
        </p:nvSpPr>
        <p:spPr>
          <a:xfrm>
            <a:off x="6373368" y="2632075"/>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배치 출하 검토 유즈케이스 사용할 데이터와 불일치·연</a:t>
            </a:r>
          </a:p>
          <a:p>
            <a:pPr algn="l">
              <a:lnSpc>
                <a:spcPct val="112000"/>
              </a:lnSpc>
              <a:spcBef>
                <a:spcPts val="0"/>
              </a:spcBef>
              <a:spcAft>
                <a:spcPts val="0"/>
              </a:spcAft>
              <a:defRPr sz="1500" b="0">
                <a:solidFill>
                  <a:srgbClr val="182B25"/>
                </a:solidFill>
                <a:latin typeface="Malgun Gothic"/>
              </a:defRPr>
            </a:pPr>
            <a:r>
              <a:t>결 한계 책의 원칙과 객체·링크·액션의 목표 구조</a:t>
            </a:r>
          </a:p>
        </p:txBody>
      </p:sp>
      <p:sp>
        <p:nvSpPr>
          <p:cNvPr id="14" name="TextBox 13"/>
          <p:cNvSpPr txBox="1"/>
          <p:nvPr/>
        </p:nvSpPr>
        <p:spPr>
          <a:xfrm>
            <a:off x="502920" y="4221353"/>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다음에 해볼 것: 만든 결과의 누락 검토 요청 · 실행 위치와 결과 확인 방법 질문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04 / AI FDE · 두 가지 사용 방식</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② 내가 직접 만들 수 있도록 안내받았다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9</a:t>
            </a:r>
          </a:p>
        </p:txBody>
      </p:sp>
      <p:sp>
        <p:nvSpPr>
          <p:cNvPr id="6" name="TextBox 5"/>
          <p:cNvSpPr txBox="1"/>
          <p:nvPr/>
        </p:nvSpPr>
        <p:spPr>
          <a:xfrm>
            <a:off x="502920" y="1496060"/>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목적: 설정의 의미를 이해하고 직접 클릭하며 배우기</a:t>
            </a:r>
          </a:p>
        </p:txBody>
      </p:sp>
      <p:sp>
        <p:nvSpPr>
          <p:cNvPr id="7" name="Rounded Rectangle 6"/>
          <p:cNvSpPr/>
          <p:nvPr/>
        </p:nvSpPr>
        <p:spPr>
          <a:xfrm>
            <a:off x="502920" y="1985391"/>
            <a:ext cx="5477256" cy="23522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149983"/>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핵심 요청 · 재구성</a:t>
            </a:r>
          </a:p>
        </p:txBody>
      </p:sp>
      <p:sp>
        <p:nvSpPr>
          <p:cNvPr id="9" name="TextBox 8"/>
          <p:cNvSpPr txBox="1"/>
          <p:nvPr/>
        </p:nvSpPr>
        <p:spPr>
          <a:xfrm>
            <a:off x="667512" y="2552700"/>
            <a:ext cx="5148072" cy="1025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무엇을 하는지, 어디를 누르고 무엇을 입</a:t>
            </a:r>
          </a:p>
          <a:p>
            <a:pPr algn="l">
              <a:lnSpc>
                <a:spcPct val="112000"/>
              </a:lnSpc>
              <a:spcBef>
                <a:spcPts val="0"/>
              </a:spcBef>
              <a:spcAft>
                <a:spcPts val="0"/>
              </a:spcAft>
              <a:defRPr sz="2000" b="1">
                <a:solidFill>
                  <a:srgbClr val="17694E"/>
                </a:solidFill>
                <a:latin typeface="Malgun Gothic"/>
              </a:defRPr>
            </a:pPr>
            <a:r>
              <a:t>력할지, 성공했는지 확인하는 방법을 한</a:t>
            </a:r>
          </a:p>
          <a:p>
            <a:pPr algn="l">
              <a:lnSpc>
                <a:spcPct val="112000"/>
              </a:lnSpc>
              <a:spcBef>
                <a:spcPts val="0"/>
              </a:spcBef>
              <a:spcAft>
                <a:spcPts val="0"/>
              </a:spcAft>
              <a:defRPr sz="2000" b="1">
                <a:solidFill>
                  <a:srgbClr val="17694E"/>
                </a:solidFill>
                <a:latin typeface="Malgun Gothic"/>
              </a:defRPr>
            </a:pPr>
            <a:r>
              <a:t>단계씩 알려 줘.</a:t>
            </a:r>
          </a:p>
        </p:txBody>
      </p:sp>
      <p:sp>
        <p:nvSpPr>
          <p:cNvPr id="10" name="TextBox 9"/>
          <p:cNvSpPr txBox="1"/>
          <p:nvPr/>
        </p:nvSpPr>
        <p:spPr>
          <a:xfrm>
            <a:off x="667512" y="3669792"/>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AI는 안내 · 내가 직접 설정·실행</a:t>
            </a:r>
          </a:p>
        </p:txBody>
      </p:sp>
      <p:sp>
        <p:nvSpPr>
          <p:cNvPr id="11" name="Rounded Rectangle 10"/>
          <p:cNvSpPr/>
          <p:nvPr/>
        </p:nvSpPr>
        <p:spPr>
          <a:xfrm>
            <a:off x="6208776" y="1985391"/>
            <a:ext cx="5477256" cy="235229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149983"/>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함께 전달한 공통 맥락</a:t>
            </a:r>
          </a:p>
        </p:txBody>
      </p:sp>
      <p:sp>
        <p:nvSpPr>
          <p:cNvPr id="13" name="TextBox 12"/>
          <p:cNvSpPr txBox="1"/>
          <p:nvPr/>
        </p:nvSpPr>
        <p:spPr>
          <a:xfrm>
            <a:off x="6373368" y="2632075"/>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배치 출하 검토 유즈케이스 사용할 데이터와 불일치·연</a:t>
            </a:r>
          </a:p>
          <a:p>
            <a:pPr algn="l">
              <a:lnSpc>
                <a:spcPct val="112000"/>
              </a:lnSpc>
              <a:spcBef>
                <a:spcPts val="0"/>
              </a:spcBef>
              <a:spcAft>
                <a:spcPts val="0"/>
              </a:spcAft>
              <a:defRPr sz="1500" b="0">
                <a:solidFill>
                  <a:srgbClr val="182B25"/>
                </a:solidFill>
                <a:latin typeface="Malgun Gothic"/>
              </a:defRPr>
            </a:pPr>
            <a:r>
              <a:t>결 한계 책의 원칙과 객체·링크·액션의 목표 구조</a:t>
            </a:r>
          </a:p>
        </p:txBody>
      </p:sp>
      <p:sp>
        <p:nvSpPr>
          <p:cNvPr id="14" name="TextBox 13"/>
          <p:cNvSpPr txBox="1"/>
          <p:nvPr/>
        </p:nvSpPr>
        <p:spPr>
          <a:xfrm>
            <a:off x="502920" y="4538853"/>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입력값뿐 아니라 Description·타입·키·저장·완료 확인까지 안내받도록 요청한다.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05 / HANDS-ON · 데이터와 관계</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식별자가 객체를 구분하고, 공통 키가 검사 근거를 연결한다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10</a:t>
            </a:r>
          </a:p>
        </p:txBody>
      </p:sp>
      <p:sp>
        <p:nvSpPr>
          <p:cNvPr id="6" name="Rounded Rectangle 5"/>
          <p:cNvSpPr/>
          <p:nvPr/>
        </p:nvSpPr>
        <p:spPr>
          <a:xfrm>
            <a:off x="502920" y="1496060"/>
            <a:ext cx="5477256" cy="3401695"/>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Pipeline Builder</a:t>
            </a:r>
          </a:p>
        </p:txBody>
      </p:sp>
      <p:sp>
        <p:nvSpPr>
          <p:cNvPr id="8" name="TextBox 7"/>
          <p:cNvSpPr txBox="1"/>
          <p:nvPr/>
        </p:nvSpPr>
        <p:spPr>
          <a:xfrm>
            <a:off x="667512" y="2142744"/>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품질검사 원본 → 검사 식별자 추가 → 출력 Dataset</a:t>
            </a:r>
          </a:p>
        </p:txBody>
      </p:sp>
      <p:sp>
        <p:nvSpPr>
          <p:cNvPr id="9" name="TextBox 8"/>
          <p:cNvSpPr txBox="1"/>
          <p:nvPr/>
        </p:nvSpPr>
        <p:spPr>
          <a:xfrm>
            <a:off x="667512" y="2545461"/>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inspection_id = batch_id + '::' + test_item</a:t>
            </a:r>
          </a:p>
        </p:txBody>
      </p:sp>
      <p:sp>
        <p:nvSpPr>
          <p:cNvPr id="10" name="TextBox 9"/>
          <p:cNvSpPr txBox="1"/>
          <p:nvPr/>
        </p:nvSpPr>
        <p:spPr>
          <a:xfrm>
            <a:off x="667512" y="2948178"/>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60 검사 기록 5 출력 컬럼</a:t>
            </a:r>
          </a:p>
        </p:txBody>
      </p:sp>
      <p:sp>
        <p:nvSpPr>
          <p:cNvPr id="11" name="TextBox 10"/>
          <p:cNvSpPr txBox="1"/>
          <p:nvPr/>
        </p:nvSpPr>
        <p:spPr>
          <a:xfrm>
            <a:off x="667512" y="3350895"/>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inspection_id · batch_id · test_item · result · measured_</a:t>
            </a:r>
          </a:p>
          <a:p>
            <a:pPr algn="l">
              <a:lnSpc>
                <a:spcPct val="112000"/>
              </a:lnSpc>
              <a:spcBef>
                <a:spcPts val="0"/>
              </a:spcBef>
              <a:spcAft>
                <a:spcPts val="0"/>
              </a:spcAft>
              <a:defRPr sz="1500" b="0">
                <a:solidFill>
                  <a:srgbClr val="182B25"/>
                </a:solidFill>
                <a:latin typeface="Malgun Gothic"/>
              </a:defRPr>
            </a:pPr>
            <a:r>
              <a:t>value</a:t>
            </a:r>
          </a:p>
        </p:txBody>
      </p:sp>
      <p:sp>
        <p:nvSpPr>
          <p:cNvPr id="12" name="TextBox 11"/>
          <p:cNvSpPr txBox="1"/>
          <p:nvPr/>
        </p:nvSpPr>
        <p:spPr>
          <a:xfrm>
            <a:off x="667512" y="3991737"/>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재검사로 같은 조합이 반복되면 회차 또는 별도 검사 ID</a:t>
            </a:r>
          </a:p>
          <a:p>
            <a:pPr algn="l">
              <a:lnSpc>
                <a:spcPct val="112000"/>
              </a:lnSpc>
              <a:spcBef>
                <a:spcPts val="0"/>
              </a:spcBef>
              <a:spcAft>
                <a:spcPts val="0"/>
              </a:spcAft>
              <a:defRPr sz="1500" b="0">
                <a:solidFill>
                  <a:srgbClr val="182B25"/>
                </a:solidFill>
                <a:latin typeface="Malgun Gothic"/>
              </a:defRPr>
            </a:pPr>
            <a:r>
              <a:t>가 필요하다.</a:t>
            </a:r>
          </a:p>
        </p:txBody>
      </p:sp>
      <p:sp>
        <p:nvSpPr>
          <p:cNvPr id="13" name="Rounded Rectangle 12"/>
          <p:cNvSpPr/>
          <p:nvPr/>
        </p:nvSpPr>
        <p:spPr>
          <a:xfrm>
            <a:off x="6208776" y="1496060"/>
            <a:ext cx="5477256" cy="3401695"/>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660652"/>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Ontology Manager</a:t>
            </a:r>
          </a:p>
        </p:txBody>
      </p:sp>
      <p:sp>
        <p:nvSpPr>
          <p:cNvPr id="15" name="TextBox 14"/>
          <p:cNvSpPr txBox="1"/>
          <p:nvPr/>
        </p:nvSpPr>
        <p:spPr>
          <a:xfrm>
            <a:off x="6373368" y="2142744"/>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30 배치출하검토 PK: batch_id 1 → N 60 품질검사 PK: i</a:t>
            </a:r>
          </a:p>
          <a:p>
            <a:pPr algn="l">
              <a:lnSpc>
                <a:spcPct val="112000"/>
              </a:lnSpc>
              <a:spcBef>
                <a:spcPts val="0"/>
              </a:spcBef>
              <a:spcAft>
                <a:spcPts val="0"/>
              </a:spcAft>
              <a:defRPr sz="1500" b="0">
                <a:solidFill>
                  <a:srgbClr val="182B25"/>
                </a:solidFill>
                <a:latin typeface="Malgun Gothic"/>
              </a:defRPr>
            </a:pPr>
            <a:r>
              <a:t>nspection_id</a:t>
            </a:r>
          </a:p>
        </p:txBody>
      </p:sp>
      <p:sp>
        <p:nvSpPr>
          <p:cNvPr id="16" name="TextBox 15"/>
          <p:cNvSpPr txBox="1"/>
          <p:nvPr/>
        </p:nvSpPr>
        <p:spPr>
          <a:xfrm>
            <a:off x="6373368" y="2783586"/>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검사의 batch_id 가 배치의 기본키를 참조한다.</a:t>
            </a:r>
          </a:p>
        </p:txBody>
      </p:sp>
      <p:sp>
        <p:nvSpPr>
          <p:cNvPr id="17" name="TextBox 16"/>
          <p:cNvSpPr txBox="1"/>
          <p:nvPr/>
        </p:nvSpPr>
        <p:spPr>
          <a:xfrm>
            <a:off x="6373368" y="3186303"/>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배치 하나를 열어 해당 검사 두 건을 확인했다.</a:t>
            </a:r>
          </a:p>
        </p:txBody>
      </p:sp>
      <p:sp>
        <p:nvSpPr>
          <p:cNvPr id="18" name="Rounded Rectangle 17"/>
          <p:cNvSpPr/>
          <p:nvPr/>
        </p:nvSpPr>
        <p:spPr>
          <a:xfrm>
            <a:off x="502920" y="5098923"/>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5245227"/>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Dataset의 행을 준비하고 → 객체로 읽고 → 링크로 근거를 탐색한다.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05 / HANDS-ON · 액션의 의미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선택한 배치에 검토 결과를 저장한다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11</a:t>
            </a:r>
          </a:p>
        </p:txBody>
      </p:sp>
      <p:sp>
        <p:nvSpPr>
          <p:cNvPr id="6" name="TextBox 5"/>
          <p:cNvSpPr txBox="1"/>
          <p:nvPr/>
        </p:nvSpPr>
        <p:spPr>
          <a:xfrm>
            <a:off x="502920" y="1496060"/>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DEMO-01-02 배치를 열고, 보류와 사유를 입력한 뒤 ‘출하 검토 기록’을 실행한다.</a:t>
            </a:r>
          </a:p>
        </p:txBody>
      </p:sp>
      <p:sp>
        <p:nvSpPr>
          <p:cNvPr id="7" name="Rounded Rectangle 6"/>
          <p:cNvSpPr/>
          <p:nvPr/>
        </p:nvSpPr>
        <p:spPr>
          <a:xfrm>
            <a:off x="502920" y="1985391"/>
            <a:ext cx="5477256" cy="2881630"/>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149983"/>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배치에 저장되는 내용</a:t>
            </a:r>
          </a:p>
        </p:txBody>
      </p:sp>
      <p:graphicFrame>
        <p:nvGraphicFramePr>
          <p:cNvPr id="9" name="Table 8"/>
          <p:cNvGraphicFramePr>
            <a:graphicFrameLocks noGrp="1"/>
          </p:cNvGraphicFramePr>
          <p:nvPr/>
        </p:nvGraphicFramePr>
        <p:xfrm>
          <a:off x="667512" y="2632075"/>
          <a:ext cx="5148071" cy="1878330"/>
        </p:xfrm>
        <a:graphic>
          <a:graphicData uri="http://schemas.openxmlformats.org/drawingml/2006/table">
            <a:tbl>
              <a:tblPr firstRow="1" bandRow="1">
                <a:tableStyleId>{5C22544A-7EE6-4342-B048-85BDC9FD1C3A}</a:tableStyleId>
              </a:tblPr>
              <a:tblGrid>
                <a:gridCol w="1492940"/>
                <a:gridCol w="3655131"/>
              </a:tblGrid>
              <a:tr h="540766">
                <a:tc>
                  <a:txBody>
                    <a:bodyPr wrap="none"/>
                    <a:lstStyle/>
                    <a:p>
                      <a:pPr algn="l">
                        <a:lnSpc>
                          <a:spcPct val="110000"/>
                        </a:lnSpc>
                        <a:spcAft>
                          <a:spcPts val="0"/>
                        </a:spcAft>
                        <a:defRPr sz="1300" b="1">
                          <a:solidFill>
                            <a:srgbClr val="17694E"/>
                          </a:solidFill>
                          <a:latin typeface="Malgun Gothic"/>
                        </a:defRPr>
                      </a:pPr>
                      <a:r>
                        <a:t>배치의 정보 칸(</a:t>
                      </a:r>
                    </a:p>
                    <a:p>
                      <a:pPr algn="l">
                        <a:lnSpc>
                          <a:spcPct val="110000"/>
                        </a:lnSpc>
                        <a:spcAft>
                          <a:spcPts val="0"/>
                        </a:spcAft>
                        <a:defRPr sz="1300" b="1">
                          <a:solidFill>
                            <a:srgbClr val="17694E"/>
                          </a:solidFill>
                          <a:latin typeface="Malgun Gothic"/>
                        </a:defRPr>
                      </a:pPr>
                      <a:r>
                        <a:t>속성)</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저장되는 내용</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검토 상태</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보류</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보류 사유</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내용량 불합격으로 재검사 필요</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판정자</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실행한 사람 · 자동 기록</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판정 시각</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실행한 시각 · 자동 기록</a:t>
                      </a:r>
                    </a:p>
                  </a:txBody>
                  <a:tcPr marL="100584" marR="100584" marT="54864" marB="36576" anchor="t">
                    <a:solidFill>
                      <a:srgbClr val="F7F9F6"/>
                    </a:solidFill>
                  </a:tcPr>
                </a:tc>
              </a:tr>
            </a:tbl>
          </a:graphicData>
        </a:graphic>
      </p:graphicFrame>
      <p:sp>
        <p:nvSpPr>
          <p:cNvPr id="10" name="Rounded Rectangle 9"/>
          <p:cNvSpPr/>
          <p:nvPr/>
        </p:nvSpPr>
        <p:spPr>
          <a:xfrm>
            <a:off x="6208776" y="1985391"/>
            <a:ext cx="5477256" cy="2881630"/>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2149983"/>
            <a:ext cx="5148072"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기존 배치에 판단을 남기는 것</a:t>
            </a:r>
          </a:p>
        </p:txBody>
      </p:sp>
      <p:sp>
        <p:nvSpPr>
          <p:cNvPr id="12" name="TextBox 11"/>
          <p:cNvSpPr txBox="1"/>
          <p:nvPr/>
        </p:nvSpPr>
        <p:spPr>
          <a:xfrm>
            <a:off x="6373368" y="2632075"/>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사람이 입력 검토 상태를 선택하고 판단 이유를 적는다.</a:t>
            </a:r>
          </a:p>
        </p:txBody>
      </p:sp>
      <p:sp>
        <p:nvSpPr>
          <p:cNvPr id="13" name="TextBox 12"/>
          <p:cNvSpPr txBox="1"/>
          <p:nvPr/>
        </p:nvSpPr>
        <p:spPr>
          <a:xfrm>
            <a:off x="6373368" y="3034792"/>
            <a:ext cx="5148072"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액션으로 저장 선택한 배치의 검토 정보 칸에 기록한다.</a:t>
            </a:r>
          </a:p>
        </p:txBody>
      </p:sp>
      <p:sp>
        <p:nvSpPr>
          <p:cNvPr id="14" name="TextBox 13"/>
          <p:cNvSpPr txBox="1"/>
          <p:nvPr/>
        </p:nvSpPr>
        <p:spPr>
          <a:xfrm>
            <a:off x="6373368" y="3437509"/>
            <a:ext cx="514807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검사 근거는 유지 기존 검사 결과와 측정값은 그대로 남</a:t>
            </a:r>
          </a:p>
          <a:p>
            <a:pPr algn="l">
              <a:lnSpc>
                <a:spcPct val="112000"/>
              </a:lnSpc>
              <a:spcBef>
                <a:spcPts val="0"/>
              </a:spcBef>
              <a:spcAft>
                <a:spcPts val="0"/>
              </a:spcAft>
              <a:defRPr sz="1500" b="0">
                <a:solidFill>
                  <a:srgbClr val="182B25"/>
                </a:solidFill>
                <a:latin typeface="Malgun Gothic"/>
              </a:defRPr>
            </a:pPr>
            <a:r>
              <a:t>는다.</a:t>
            </a:r>
          </a:p>
        </p:txBody>
      </p:sp>
      <p:sp>
        <p:nvSpPr>
          <p:cNvPr id="15" name="Rounded Rectangle 14"/>
          <p:cNvSpPr/>
          <p:nvPr/>
        </p:nvSpPr>
        <p:spPr>
          <a:xfrm>
            <a:off x="502920" y="5068189"/>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5214493"/>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보류를 선택하면 → 보류 사유를 반드시 입력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05 / ACTION · 입력에서 기록으로</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보류를 선택하면 이유를 묻고, 제출하면 판단이 기록된다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12</a:t>
            </a:r>
          </a:p>
        </p:txBody>
      </p:sp>
      <p:sp>
        <p:nvSpPr>
          <p:cNvPr id="6" name="TextBox 5"/>
          <p:cNvSpPr txBox="1"/>
          <p:nvPr/>
        </p:nvSpPr>
        <p:spPr>
          <a:xfrm>
            <a:off x="502920" y="1496060"/>
            <a:ext cx="11183112" cy="358902"/>
          </a:xfrm>
          <a:prstGeom prst="rect">
            <a:avLst/>
          </a:prstGeom>
          <a:noFill/>
        </p:spPr>
        <p:txBody>
          <a:bodyPr wrap="none" lIns="0" rIns="0" tIns="0" bIns="0">
            <a:noAutofit/>
          </a:bodyPr>
          <a:lstStyle/>
          <a:p>
            <a:pPr algn="l">
              <a:lnSpc>
                <a:spcPct val="112000"/>
              </a:lnSpc>
              <a:spcBef>
                <a:spcPts val="0"/>
              </a:spcBef>
              <a:spcAft>
                <a:spcPts val="0"/>
              </a:spcAft>
              <a:defRPr sz="1800" b="0">
                <a:solidFill>
                  <a:srgbClr val="4C6258"/>
                </a:solidFill>
                <a:latin typeface="Malgun Gothic"/>
              </a:defRPr>
            </a:pPr>
            <a:r>
              <a:t>웹의 입력 체험을 PowerPoint에서는 세 가지 상태로 비교합니다.</a:t>
            </a:r>
          </a:p>
        </p:txBody>
      </p:sp>
      <p:graphicFrame>
        <p:nvGraphicFramePr>
          <p:cNvPr id="7" name="Table 6"/>
          <p:cNvGraphicFramePr>
            <a:graphicFrameLocks noGrp="1"/>
          </p:cNvGraphicFramePr>
          <p:nvPr/>
        </p:nvGraphicFramePr>
        <p:xfrm>
          <a:off x="502920" y="2001266"/>
          <a:ext cx="11183110" cy="1623314"/>
        </p:xfrm>
        <a:graphic>
          <a:graphicData uri="http://schemas.openxmlformats.org/drawingml/2006/table">
            <a:tbl>
              <a:tblPr firstRow="1" bandRow="1">
                <a:tableStyleId>{5C22544A-7EE6-4342-B048-85BDC9FD1C3A}</a:tableStyleId>
              </a:tblPr>
              <a:tblGrid>
                <a:gridCol w="3243102"/>
                <a:gridCol w="3466764"/>
                <a:gridCol w="4473244"/>
              </a:tblGrid>
              <a:tr h="350266">
                <a:tc>
                  <a:txBody>
                    <a:bodyPr wrap="none"/>
                    <a:lstStyle/>
                    <a:p>
                      <a:pPr algn="l">
                        <a:lnSpc>
                          <a:spcPct val="110000"/>
                        </a:lnSpc>
                        <a:spcAft>
                          <a:spcPts val="0"/>
                        </a:spcAft>
                        <a:defRPr sz="1400" b="1">
                          <a:solidFill>
                            <a:srgbClr val="17694E"/>
                          </a:solidFill>
                          <a:latin typeface="Malgun Gothic"/>
                        </a:defRPr>
                      </a:pPr>
                      <a:r>
                        <a:t>상황</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입력</a:t>
                      </a:r>
                    </a:p>
                  </a:txBody>
                  <a:tcPr marL="100584" marR="100584" marT="54864" marB="36576" anchor="t">
                    <a:solidFill>
                      <a:srgbClr val="E5F1E9"/>
                    </a:solidFill>
                  </a:tcPr>
                </a:tc>
                <a:tc>
                  <a:txBody>
                    <a:bodyPr wrap="none"/>
                    <a:lstStyle/>
                    <a:p>
                      <a:pPr algn="l">
                        <a:lnSpc>
                          <a:spcPct val="110000"/>
                        </a:lnSpc>
                        <a:spcAft>
                          <a:spcPts val="0"/>
                        </a:spcAft>
                        <a:defRPr sz="1400" b="1">
                          <a:solidFill>
                            <a:srgbClr val="17694E"/>
                          </a:solidFill>
                          <a:latin typeface="Malgun Gothic"/>
                        </a:defRPr>
                      </a:pPr>
                      <a:r>
                        <a:t>결과</a:t>
                      </a:r>
                    </a:p>
                  </a:txBody>
                  <a:tcPr marL="100584" marR="100584" marT="54864" marB="36576" anchor="t">
                    <a:solidFill>
                      <a:srgbClr val="E5F1E9"/>
                    </a:solidFill>
                  </a:tcPr>
                </a:tc>
              </a:tr>
              <a:tr h="350266">
                <a:tc>
                  <a:txBody>
                    <a:bodyPr wrap="none"/>
                    <a:lstStyle/>
                    <a:p>
                      <a:pPr algn="l">
                        <a:lnSpc>
                          <a:spcPct val="110000"/>
                        </a:lnSpc>
                        <a:spcAft>
                          <a:spcPts val="0"/>
                        </a:spcAft>
                        <a:defRPr sz="1400" b="0">
                          <a:solidFill>
                            <a:srgbClr val="182B25"/>
                          </a:solidFill>
                          <a:latin typeface="Malgun Gothic"/>
                        </a:defRPr>
                      </a:pPr>
                      <a:r>
                        <a:t>보류 사유 없음</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검토 상태=보류 / 사유 비움</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예시 검증 실패: 사유 입력 필요</a:t>
                      </a:r>
                    </a:p>
                  </a:txBody>
                  <a:tcPr marL="100584" marR="100584" marT="54864" marB="36576" anchor="t">
                    <a:solidFill>
                      <a:srgbClr val="FFFFFF"/>
                    </a:solidFill>
                  </a:tcPr>
                </a:tc>
              </a:tr>
              <a:tr h="572516">
                <a:tc>
                  <a:txBody>
                    <a:bodyPr wrap="none"/>
                    <a:lstStyle/>
                    <a:p>
                      <a:pPr algn="l">
                        <a:lnSpc>
                          <a:spcPct val="110000"/>
                        </a:lnSpc>
                        <a:spcAft>
                          <a:spcPts val="0"/>
                        </a:spcAft>
                        <a:defRPr sz="1400" b="0">
                          <a:solidFill>
                            <a:srgbClr val="182B25"/>
                          </a:solidFill>
                          <a:latin typeface="Malgun Gothic"/>
                        </a:defRPr>
                      </a:pPr>
                      <a:r>
                        <a:t>보류 사유 있음</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보류 / 내용량 불합격으로 재검사 필</a:t>
                      </a:r>
                    </a:p>
                    <a:p>
                      <a:pPr algn="l">
                        <a:lnSpc>
                          <a:spcPct val="110000"/>
                        </a:lnSpc>
                        <a:spcAft>
                          <a:spcPts val="0"/>
                        </a:spcAft>
                        <a:defRPr sz="1400" b="0">
                          <a:solidFill>
                            <a:srgbClr val="182B25"/>
                          </a:solidFill>
                          <a:latin typeface="Malgun Gothic"/>
                        </a:defRPr>
                      </a:pPr>
                      <a:r>
                        <a:t>요</a:t>
                      </a:r>
                    </a:p>
                  </a:txBody>
                  <a:tcPr marL="100584" marR="100584" marT="54864" marB="36576" anchor="t">
                    <a:solidFill>
                      <a:srgbClr val="F7F9F6"/>
                    </a:solidFill>
                  </a:tcPr>
                </a:tc>
                <a:tc>
                  <a:txBody>
                    <a:bodyPr wrap="none"/>
                    <a:lstStyle/>
                    <a:p>
                      <a:pPr algn="l">
                        <a:lnSpc>
                          <a:spcPct val="110000"/>
                        </a:lnSpc>
                        <a:spcAft>
                          <a:spcPts val="0"/>
                        </a:spcAft>
                        <a:defRPr sz="1400" b="0">
                          <a:solidFill>
                            <a:srgbClr val="182B25"/>
                          </a:solidFill>
                          <a:latin typeface="Malgun Gothic"/>
                        </a:defRPr>
                      </a:pPr>
                      <a:r>
                        <a:t>상태·사유·판정자·판정 시각 기록</a:t>
                      </a:r>
                    </a:p>
                  </a:txBody>
                  <a:tcPr marL="100584" marR="100584" marT="54864" marB="36576" anchor="t">
                    <a:solidFill>
                      <a:srgbClr val="F7F9F6"/>
                    </a:solidFill>
                  </a:tcPr>
                </a:tc>
              </a:tr>
              <a:tr h="350266">
                <a:tc>
                  <a:txBody>
                    <a:bodyPr wrap="none"/>
                    <a:lstStyle/>
                    <a:p>
                      <a:pPr algn="l">
                        <a:lnSpc>
                          <a:spcPct val="110000"/>
                        </a:lnSpc>
                        <a:spcAft>
                          <a:spcPts val="0"/>
                        </a:spcAft>
                        <a:defRPr sz="1400" b="0">
                          <a:solidFill>
                            <a:srgbClr val="182B25"/>
                          </a:solidFill>
                          <a:latin typeface="Malgun Gothic"/>
                        </a:defRPr>
                      </a:pPr>
                      <a:r>
                        <a:t>승인 선택</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검토 상태=승인</a:t>
                      </a:r>
                    </a:p>
                  </a:txBody>
                  <a:tcPr marL="100584" marR="100584" marT="54864" marB="36576" anchor="t">
                    <a:solidFill>
                      <a:srgbClr val="FFFFFF"/>
                    </a:solidFill>
                  </a:tcPr>
                </a:tc>
                <a:tc>
                  <a:txBody>
                    <a:bodyPr wrap="none"/>
                    <a:lstStyle/>
                    <a:p>
                      <a:pPr algn="l">
                        <a:lnSpc>
                          <a:spcPct val="110000"/>
                        </a:lnSpc>
                        <a:spcAft>
                          <a:spcPts val="0"/>
                        </a:spcAft>
                        <a:defRPr sz="1400" b="0">
                          <a:solidFill>
                            <a:srgbClr val="182B25"/>
                          </a:solidFill>
                          <a:latin typeface="Malgun Gothic"/>
                        </a:defRPr>
                      </a:pPr>
                      <a:r>
                        <a:t>이번 예시에서는 사유가 필수가 아님</a:t>
                      </a:r>
                    </a:p>
                  </a:txBody>
                  <a:tcPr marL="100584" marR="100584" marT="54864" marB="36576" anchor="t">
                    <a:solidFill>
                      <a:srgbClr val="FFFFFF"/>
                    </a:solidFill>
                  </a:tcPr>
                </a:tc>
              </a:tr>
            </a:tbl>
          </a:graphicData>
        </a:graphic>
      </p:graphicFrame>
      <p:sp>
        <p:nvSpPr>
          <p:cNvPr id="8" name="Rounded Rectangle 7"/>
          <p:cNvSpPr/>
          <p:nvPr/>
        </p:nvSpPr>
        <p:spPr>
          <a:xfrm>
            <a:off x="502920" y="3807460"/>
            <a:ext cx="11183112" cy="619760"/>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3953764"/>
            <a:ext cx="10890504" cy="327152"/>
          </a:xfrm>
          <a:prstGeom prst="rect">
            <a:avLst/>
          </a:prstGeom>
          <a:noFill/>
        </p:spPr>
        <p:txBody>
          <a:bodyPr wrap="none" lIns="0" rIns="0" tIns="0" bIns="0">
            <a:noAutofit/>
          </a:bodyPr>
          <a:lstStyle/>
          <a:p>
            <a:pPr algn="l">
              <a:lnSpc>
                <a:spcPct val="112000"/>
              </a:lnSpc>
              <a:spcBef>
                <a:spcPts val="0"/>
              </a:spcBef>
              <a:spcAft>
                <a:spcPts val="0"/>
              </a:spcAft>
              <a:defRPr sz="1600" b="1">
                <a:solidFill>
                  <a:srgbClr val="17694E"/>
                </a:solidFill>
                <a:latin typeface="Malgun Gothic"/>
              </a:defRPr>
            </a:pPr>
            <a:r>
              <a:t>설명용 예시입니다. PowerPoint에서 Foundry 액션이 실행되지는 않습니다.</a:t>
            </a:r>
          </a:p>
        </p:txBody>
      </p:sp>
      <p:sp>
        <p:nvSpPr>
          <p:cNvPr id="10" name="TextBox 9"/>
          <p:cNvSpPr txBox="1"/>
          <p:nvPr/>
        </p:nvSpPr>
        <p:spPr>
          <a:xfrm>
            <a:off x="502920" y="4573524"/>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배치 DEMO-01-02의 기존 실습 흐름: 검사 확인 → 보류와 사유 입력 → Submit → Properties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TAKEAWAYS · 다음에 다시 만들 때</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이제 각 설정을 하나의 업무 흐름으로 설명할 수 있다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13</a:t>
            </a:r>
          </a:p>
        </p:txBody>
      </p:sp>
      <p:sp>
        <p:nvSpPr>
          <p:cNvPr id="6" name="Rounded Rectangle 5"/>
          <p:cNvSpPr/>
          <p:nvPr/>
        </p:nvSpPr>
        <p:spPr>
          <a:xfrm>
            <a:off x="502920" y="1496060"/>
            <a:ext cx="3575304" cy="219354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66065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01</a:t>
            </a:r>
          </a:p>
        </p:txBody>
      </p:sp>
      <p:sp>
        <p:nvSpPr>
          <p:cNvPr id="8" name="TextBox 7"/>
          <p:cNvSpPr txBox="1"/>
          <p:nvPr/>
        </p:nvSpPr>
        <p:spPr>
          <a:xfrm>
            <a:off x="667512" y="2063368"/>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책과 데이터는 설계 기준</a:t>
            </a:r>
          </a:p>
        </p:txBody>
      </p:sp>
      <p:sp>
        <p:nvSpPr>
          <p:cNvPr id="9" name="TextBox 8"/>
          <p:cNvSpPr txBox="1"/>
          <p:nvPr/>
        </p:nvSpPr>
        <p:spPr>
          <a:xfrm>
            <a:off x="667512" y="2545460"/>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책의 원칙과 데이터의 한계를 함께</a:t>
            </a:r>
          </a:p>
          <a:p>
            <a:pPr algn="l">
              <a:lnSpc>
                <a:spcPct val="112000"/>
              </a:lnSpc>
              <a:spcBef>
                <a:spcPts val="0"/>
              </a:spcBef>
              <a:spcAft>
                <a:spcPts val="0"/>
              </a:spcAft>
              <a:defRPr sz="1500" b="0">
                <a:solidFill>
                  <a:srgbClr val="182B25"/>
                </a:solidFill>
                <a:latin typeface="Malgun Gothic"/>
              </a:defRPr>
            </a:pPr>
            <a:r>
              <a:t>보고 판단 대상과 행동을 정한다.</a:t>
            </a:r>
          </a:p>
        </p:txBody>
      </p:sp>
      <p:sp>
        <p:nvSpPr>
          <p:cNvPr id="10" name="Rounded Rectangle 9"/>
          <p:cNvSpPr/>
          <p:nvPr/>
        </p:nvSpPr>
        <p:spPr>
          <a:xfrm>
            <a:off x="4306824" y="1496060"/>
            <a:ext cx="3575304" cy="219354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166065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02</a:t>
            </a:r>
          </a:p>
        </p:txBody>
      </p:sp>
      <p:sp>
        <p:nvSpPr>
          <p:cNvPr id="12" name="TextBox 11"/>
          <p:cNvSpPr txBox="1"/>
          <p:nvPr/>
        </p:nvSpPr>
        <p:spPr>
          <a:xfrm>
            <a:off x="4471416" y="2063368"/>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공유 환경과 AI 활용</a:t>
            </a:r>
          </a:p>
        </p:txBody>
      </p:sp>
      <p:sp>
        <p:nvSpPr>
          <p:cNvPr id="13" name="TextBox 12"/>
          <p:cNvSpPr txBox="1"/>
          <p:nvPr/>
        </p:nvSpPr>
        <p:spPr>
          <a:xfrm>
            <a:off x="4471416" y="2545460"/>
            <a:ext cx="3246120"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공유 환경에서 실습하고, AI FDE에</a:t>
            </a:r>
          </a:p>
          <a:p>
            <a:pPr algn="l">
              <a:lnSpc>
                <a:spcPct val="112000"/>
              </a:lnSpc>
              <a:spcBef>
                <a:spcPts val="0"/>
              </a:spcBef>
              <a:spcAft>
                <a:spcPts val="0"/>
              </a:spcAft>
              <a:defRPr sz="1500" b="0">
                <a:solidFill>
                  <a:srgbClr val="182B25"/>
                </a:solidFill>
                <a:latin typeface="Malgun Gothic"/>
              </a:defRPr>
            </a:pPr>
            <a:r>
              <a:t>구현을 요청하며 모르는 부분을 확</a:t>
            </a:r>
          </a:p>
          <a:p>
            <a:pPr algn="l">
              <a:lnSpc>
                <a:spcPct val="112000"/>
              </a:lnSpc>
              <a:spcBef>
                <a:spcPts val="0"/>
              </a:spcBef>
              <a:spcAft>
                <a:spcPts val="0"/>
              </a:spcAft>
              <a:defRPr sz="1500" b="0">
                <a:solidFill>
                  <a:srgbClr val="182B25"/>
                </a:solidFill>
                <a:latin typeface="Malgun Gothic"/>
              </a:defRPr>
            </a:pPr>
            <a:r>
              <a:t>인한다.</a:t>
            </a:r>
          </a:p>
        </p:txBody>
      </p:sp>
      <p:sp>
        <p:nvSpPr>
          <p:cNvPr id="14" name="Rounded Rectangle 13"/>
          <p:cNvSpPr/>
          <p:nvPr/>
        </p:nvSpPr>
        <p:spPr>
          <a:xfrm>
            <a:off x="8110728" y="1496060"/>
            <a:ext cx="3575304" cy="2193544"/>
          </a:xfrm>
          <a:prstGeom prst="roundRect">
            <a:avLst>
              <a:gd name="adj" fmla="val 8000"/>
            </a:avLst>
          </a:prstGeom>
          <a:solidFill>
            <a:srgbClr val="FFFFFF"/>
          </a:solidFill>
          <a:ln w="8890">
            <a:solidFill>
              <a:srgbClr val="CBD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660652"/>
            <a:ext cx="3246120" cy="311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03</a:t>
            </a:r>
          </a:p>
        </p:txBody>
      </p:sp>
      <p:sp>
        <p:nvSpPr>
          <p:cNvPr id="16" name="TextBox 15"/>
          <p:cNvSpPr txBox="1"/>
          <p:nvPr/>
        </p:nvSpPr>
        <p:spPr>
          <a:xfrm>
            <a:off x="8275320" y="2063368"/>
            <a:ext cx="3246120" cy="390652"/>
          </a:xfrm>
          <a:prstGeom prst="rect">
            <a:avLst/>
          </a:prstGeom>
          <a:noFill/>
        </p:spPr>
        <p:txBody>
          <a:bodyPr wrap="none" lIns="0" rIns="0" tIns="0" bIns="0">
            <a:noAutofit/>
          </a:bodyPr>
          <a:lstStyle/>
          <a:p>
            <a:pPr algn="l">
              <a:lnSpc>
                <a:spcPct val="112000"/>
              </a:lnSpc>
              <a:spcBef>
                <a:spcPts val="0"/>
              </a:spcBef>
              <a:spcAft>
                <a:spcPts val="0"/>
              </a:spcAft>
              <a:defRPr sz="2000" b="1">
                <a:solidFill>
                  <a:srgbClr val="17694E"/>
                </a:solidFill>
                <a:latin typeface="Malgun Gothic"/>
              </a:defRPr>
            </a:pPr>
            <a:r>
              <a:t>직접 실습은 연결 이해</a:t>
            </a:r>
          </a:p>
        </p:txBody>
      </p:sp>
      <p:sp>
        <p:nvSpPr>
          <p:cNvPr id="17" name="TextBox 16"/>
          <p:cNvSpPr txBox="1"/>
          <p:nvPr/>
        </p:nvSpPr>
        <p:spPr>
          <a:xfrm>
            <a:off x="8275320" y="2545460"/>
            <a:ext cx="3246120"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182B25"/>
                </a:solidFill>
                <a:latin typeface="Malgun Gothic"/>
              </a:defRPr>
            </a:pPr>
            <a:r>
              <a:t>식별자·관계·입력·수정 결과를 직접</a:t>
            </a:r>
          </a:p>
          <a:p>
            <a:pPr algn="l">
              <a:lnSpc>
                <a:spcPct val="112000"/>
              </a:lnSpc>
              <a:spcBef>
                <a:spcPts val="0"/>
              </a:spcBef>
              <a:spcAft>
                <a:spcPts val="0"/>
              </a:spcAft>
              <a:defRPr sz="1500" b="0">
                <a:solidFill>
                  <a:srgbClr val="182B25"/>
                </a:solidFill>
                <a:latin typeface="Malgun Gothic"/>
              </a:defRPr>
            </a:pPr>
            <a:r>
              <a:t>연결하며 의미를 익힌다.</a:t>
            </a:r>
          </a:p>
        </p:txBody>
      </p:sp>
      <p:sp>
        <p:nvSpPr>
          <p:cNvPr id="18" name="Rounded Rectangle 17"/>
          <p:cNvSpPr/>
          <p:nvPr/>
        </p:nvSpPr>
        <p:spPr>
          <a:xfrm>
            <a:off x="502920" y="3890772"/>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037076"/>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배치 열기 → 검사 보기 → 검토 기록 → 속성 반영 확인</a:t>
            </a:r>
          </a:p>
        </p:txBody>
      </p:sp>
      <p:sp>
        <p:nvSpPr>
          <p:cNvPr id="20" name="TextBox 19"/>
          <p:cNvSpPr txBox="1"/>
          <p:nvPr/>
        </p:nvSpPr>
        <p:spPr>
          <a:xfrm>
            <a:off x="502920" y="4640961"/>
            <a:ext cx="11183112" cy="343027"/>
          </a:xfrm>
          <a:prstGeom prst="rect">
            <a:avLst/>
          </a:prstGeom>
          <a:noFill/>
        </p:spPr>
        <p:txBody>
          <a:bodyPr wrap="none" lIns="0" rIns="0" tIns="0" bIns="0">
            <a:noAutofit/>
          </a:bodyPr>
          <a:lstStyle/>
          <a:p>
            <a:pPr algn="l">
              <a:lnSpc>
                <a:spcPct val="112000"/>
              </a:lnSpc>
              <a:spcBef>
                <a:spcPts val="0"/>
              </a:spcBef>
              <a:spcAft>
                <a:spcPts val="0"/>
              </a:spcAft>
              <a:defRPr sz="1700" b="0">
                <a:solidFill>
                  <a:srgbClr val="4C6258"/>
                </a:solidFill>
                <a:latin typeface="Malgun Gothic"/>
              </a:defRPr>
            </a:pPr>
            <a:r>
              <a:t>다음 실습: 새 브랜치에서 재현 완료 → 재검토 조건 → 권한과 이력</a:t>
            </a:r>
          </a:p>
        </p:txBody>
      </p:sp>
      <p:sp>
        <p:nvSpPr>
          <p:cNvPr id="21" name="TextBox 20"/>
          <p:cNvSpPr txBox="1"/>
          <p:nvPr/>
        </p:nvSpPr>
        <p:spPr>
          <a:xfrm>
            <a:off x="502920" y="5130292"/>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기존 성공 기록과 새 재실습 브랜치는 구분한다. Main 반영·물류 연동·전체 이력 관리는 후속 범위다.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00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준비: 이번 실습에서 만들 것</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14</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전체 절차 MD 열기 · 목차에서 단계 선택 · 전체 보기로 펼쳐서 실습</a:t>
            </a:r>
          </a:p>
        </p:txBody>
      </p:sp>
      <p:sp>
        <p:nvSpPr>
          <p:cNvPr id="7" name="TextBox 6"/>
          <p:cNvSpPr txBox="1"/>
          <p:nvPr/>
        </p:nvSpPr>
        <p:spPr>
          <a:xfrm>
            <a:off x="502920" y="1842516"/>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공유 Foundry 환경 → 실습 프로젝트</a:t>
            </a:r>
          </a:p>
        </p:txBody>
      </p:sp>
      <p:graphicFrame>
        <p:nvGraphicFramePr>
          <p:cNvPr id="8" name="Table 7"/>
          <p:cNvGraphicFramePr>
            <a:graphicFrameLocks noGrp="1"/>
          </p:cNvGraphicFramePr>
          <p:nvPr/>
        </p:nvGraphicFramePr>
        <p:xfrm>
          <a:off x="502920" y="2252472"/>
          <a:ext cx="11183111" cy="2547112"/>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만들 흐름</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 선택 → 품질검사 확인 → 검토 상태·사유 입력 → 사용자·시각과 함께 저장</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필요한 원본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batch_master 30행 / quality_inspection 60행. 현재 브랜치에서 실제 행이 조회되는 원본 사용</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결과물</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검사 출력 Dataset 1개 · Object Type 2개 · Link Type 1개 · Action Type 1개</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필수 기록</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프로젝트, 브랜치 이름·URL, 원본·출력 Dataset 이름, 두 Object Type과 Action 이름</a:t>
                      </a:r>
                    </a:p>
                  </a:txBody>
                  <a:tcPr marL="100584" marR="100584" marT="54864" marB="36576" anchor="t">
                    <a:solidFill>
                      <a:srgbClr val="F7F9F6"/>
                    </a:solidFill>
                  </a:tcPr>
                </a:tc>
              </a:tr>
              <a:tr h="540766">
                <a:tc>
                  <a:txBody>
                    <a:bodyPr wrap="none"/>
                    <a:lstStyle/>
                    <a:p>
                      <a:pPr algn="l">
                        <a:lnSpc>
                          <a:spcPct val="110000"/>
                        </a:lnSpc>
                        <a:spcAft>
                          <a:spcPts val="0"/>
                        </a:spcAft>
                        <a:defRPr sz="1300" b="0">
                          <a:solidFill>
                            <a:srgbClr val="182B25"/>
                          </a:solidFill>
                          <a:latin typeface="Malgun Gothic"/>
                        </a:defRPr>
                      </a:pPr>
                      <a:r>
                        <a:t>예시 이름 사용 규칙</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이후 영문 API 이름은 새로 만드는 경우의 제안. 기존 자산을 이어 하면 현재 이름을 유지하고 중복</a:t>
                      </a:r>
                    </a:p>
                    <a:p>
                      <a:pPr algn="l">
                        <a:lnSpc>
                          <a:spcPct val="110000"/>
                        </a:lnSpc>
                        <a:spcAft>
                          <a:spcPts val="0"/>
                        </a:spcAft>
                        <a:defRPr sz="1300" b="0">
                          <a:solidFill>
                            <a:srgbClr val="182B25"/>
                          </a:solidFill>
                          <a:latin typeface="Malgun Gothic"/>
                        </a:defRPr>
                      </a:pPr>
                      <a:r>
                        <a:t>생성하지 않기</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완료 범위</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검토 결과 저장까지. Main 병합·실제 출하 차단·중복 보류 방지·전체 이력 관리는 포함하지 않음</a:t>
                      </a:r>
                    </a:p>
                  </a:txBody>
                  <a:tcPr marL="100584" marR="100584" marT="54864" marB="36576" anchor="t">
                    <a:solidFill>
                      <a:srgbClr val="F7F9F6"/>
                    </a:solidFill>
                  </a:tcPr>
                </a:tc>
              </a:tr>
            </a:tbl>
          </a:graphicData>
        </a:graphic>
      </p:graphicFrame>
      <p:sp>
        <p:nvSpPr>
          <p:cNvPr id="9" name="TextBox 8"/>
          <p:cNvSpPr txBox="1"/>
          <p:nvPr/>
        </p:nvSpPr>
        <p:spPr>
          <a:xfrm>
            <a:off x="502920" y="4982464"/>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아직 저장 단계 아님. 원본과 작업 위치부터 확인.</a:t>
            </a:r>
          </a:p>
        </p:txBody>
      </p:sp>
      <p:sp>
        <p:nvSpPr>
          <p:cNvPr id="10" name="Rounded Rectangle 9"/>
          <p:cNvSpPr/>
          <p:nvPr/>
        </p:nvSpPr>
        <p:spPr>
          <a:xfrm>
            <a:off x="502920" y="5408295"/>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5554599"/>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어느 브랜치에서 무엇을 만들지 설명할 수 있고 원본 두 개가 조회된다.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01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브랜치와 원본 데이터를 확인한다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15</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Ontology Manager → 브랜치 선택 / 프로젝트의 Dataset</a:t>
            </a:r>
          </a:p>
        </p:txBody>
      </p:sp>
      <p:graphicFrame>
        <p:nvGraphicFramePr>
          <p:cNvPr id="7" name="Table 6"/>
          <p:cNvGraphicFramePr>
            <a:graphicFrameLocks noGrp="1"/>
          </p:cNvGraphicFramePr>
          <p:nvPr/>
        </p:nvGraphicFramePr>
        <p:xfrm>
          <a:off x="502920" y="1842516"/>
          <a:ext cx="11183111" cy="2547112"/>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브랜치</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새 실습이면 Create new branch. 예: review-practice-new. 이어 하면 기존 실습 브랜치 선택</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브랜치 설명 예시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배치별 품질검사 확인 후 출하 검토 결과를 기록하는 실습</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batch_master 확인</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batch_id, manufacture_date, product_code, recipe_id. 30행 / batch_id 고유 30개 / 빈 키 없음</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quality_inspection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batch_id, test_item, result, measured_value. 60행 / 배치당 검사 2건</a:t>
                      </a:r>
                    </a:p>
                  </a:txBody>
                  <a:tcPr marL="100584" marR="100584" marT="54864" marB="36576" anchor="t">
                    <a:solidFill>
                      <a:srgbClr val="F7F9F6"/>
                    </a:solidFill>
                  </a:tcPr>
                </a:tc>
              </a:tr>
              <a:tr h="540766">
                <a:tc>
                  <a:txBody>
                    <a:bodyPr wrap="none"/>
                    <a:lstStyle/>
                    <a:p>
                      <a:pPr algn="l">
                        <a:lnSpc>
                          <a:spcPct val="110000"/>
                        </a:lnSpc>
                        <a:spcAft>
                          <a:spcPts val="0"/>
                        </a:spcAft>
                        <a:defRPr sz="1300" b="0">
                          <a:solidFill>
                            <a:srgbClr val="182B25"/>
                          </a:solidFill>
                          <a:latin typeface="Malgun Gothic"/>
                        </a:defRPr>
                      </a:pPr>
                      <a:r>
                        <a:t>원본이 없는 경우</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프로젝트에 03.batch_master.csv와 07.quality_inspection.csv를 Dataset으로 가져온 후 열 구분·헤더·</a:t>
                      </a:r>
                    </a:p>
                    <a:p>
                      <a:pPr algn="l">
                        <a:lnSpc>
                          <a:spcPct val="110000"/>
                        </a:lnSpc>
                        <a:spcAft>
                          <a:spcPts val="0"/>
                        </a:spcAft>
                        <a:defRPr sz="1300" b="0">
                          <a:solidFill>
                            <a:srgbClr val="182B25"/>
                          </a:solidFill>
                          <a:latin typeface="Malgun Gothic"/>
                        </a:defRPr>
                      </a:pPr>
                      <a:r>
                        <a:t>타입·행 수 확인</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브랜치별 데이터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다른 브랜치의 출력 이름만 보고 재사용하지 않기. 현재 브랜치에서 스키마와 실제 행이 보여야 함</a:t>
                      </a:r>
                    </a:p>
                  </a:txBody>
                  <a:tcPr marL="100584" marR="100584" marT="54864" marB="36576" anchor="t">
                    <a:solidFill>
                      <a:srgbClr val="F7F9F6"/>
                    </a:solidFill>
                  </a:tcPr>
                </a:tc>
              </a:tr>
            </a:tbl>
          </a:graphicData>
        </a:graphic>
      </p:graphicFrame>
      <p:sp>
        <p:nvSpPr>
          <p:cNvPr id="8" name="TextBox 7"/>
          <p:cNvSpPr txBox="1"/>
          <p:nvPr/>
        </p:nvSpPr>
        <p:spPr>
          <a:xfrm>
            <a:off x="502920" y="4572508"/>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브랜치 생성 완료 후 이름과 URL 기록. Dataset 가져오기를 했다면 행 조회까지 확인.</a:t>
            </a:r>
          </a:p>
        </p:txBody>
      </p:sp>
      <p:sp>
        <p:nvSpPr>
          <p:cNvPr id="9" name="Rounded Rectangle 8"/>
          <p:cNvSpPr/>
          <p:nvPr/>
        </p:nvSpPr>
        <p:spPr>
          <a:xfrm>
            <a:off x="502920" y="4998339"/>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144643"/>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배치30행·검사60행이 보이고, 두 데이터의 batch_id가 연결 가능하다.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02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Pipeline Builder에서 검사 식별자를 만든다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16</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Pipeline Builder → 새 파이프라인 → 검사 원본 추가</a:t>
            </a:r>
          </a:p>
        </p:txBody>
      </p:sp>
      <p:graphicFrame>
        <p:nvGraphicFramePr>
          <p:cNvPr id="7" name="Table 6"/>
          <p:cNvGraphicFramePr>
            <a:graphicFrameLocks noGrp="1"/>
          </p:cNvGraphicFramePr>
          <p:nvPr/>
        </p:nvGraphicFramePr>
        <p:xfrm>
          <a:off x="502920" y="1842516"/>
          <a:ext cx="11183111" cy="2340737"/>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입력</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현재 브랜치에서 조회되는 quality_inspection Dataset</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추가할 컬럼</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inspection_id · String</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계산 내용</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batch_id + 구분자 :: + test_item. 예: DEMO-01-02::내용량. 문자열 이어붙이기 변환으로 구성</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출력할 컬럼</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inspection_id(String), batch_id(String), test_item(String), result(String), measured_value(Double)</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출력 Dataset 이름 예시</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quality_inspection_for_ontology_practice_0909. 이미 검증된 출력이 있으면 재사용 가능</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파이프라인 설명 예시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품질검사에 고유 inspection_id를 추가해 객체 생성과 배치 연결에 사용한다</a:t>
                      </a:r>
                    </a:p>
                  </a:txBody>
                  <a:tcPr marL="100584" marR="100584" marT="54864" marB="36576" anchor="t">
                    <a:solidFill>
                      <a:srgbClr val="F7F9F6"/>
                    </a:solidFill>
                  </a:tcPr>
                </a:tc>
              </a:tr>
            </a:tbl>
          </a:graphicData>
        </a:graphic>
      </p:graphicFrame>
      <p:sp>
        <p:nvSpPr>
          <p:cNvPr id="8" name="TextBox 7"/>
          <p:cNvSpPr txBox="1"/>
          <p:nvPr/>
        </p:nvSpPr>
        <p:spPr>
          <a:xfrm>
            <a:off x="502920" y="4366133"/>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출력 Dataset 연결 → 저장 → Deploy/실행 → 빌드 성공 확인.</a:t>
            </a:r>
          </a:p>
        </p:txBody>
      </p:sp>
      <p:sp>
        <p:nvSpPr>
          <p:cNvPr id="9" name="Rounded Rectangle 8"/>
          <p:cNvSpPr/>
          <p:nvPr/>
        </p:nvSpPr>
        <p:spPr>
          <a:xfrm>
            <a:off x="502920" y="4791964"/>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4938268"/>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출력60행 / 검사 ID 고유60개 / 빈 ID0개 / 배치 연결 누락0개. 원천 검사 결과·측정값은 유지된다.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03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배치출하검토 Object Type을 만든다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17</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Ontology Manager → New → Object type → Use existing datasource</a:t>
            </a:r>
          </a:p>
        </p:txBody>
      </p:sp>
      <p:graphicFrame>
        <p:nvGraphicFramePr>
          <p:cNvPr id="7" name="Table 6"/>
          <p:cNvGraphicFramePr>
            <a:graphicFrameLocks noGrp="1"/>
          </p:cNvGraphicFramePr>
          <p:nvPr/>
        </p:nvGraphicFramePr>
        <p:xfrm>
          <a:off x="502920" y="1842516"/>
          <a:ext cx="11183111" cy="2881503"/>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Display name / 복수 표시 이름</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배치출하검토 / 배치출하검토</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API name 예시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BatchShipmentReviewPractice0909 · 충돌 없는 새 이름 사용</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Description</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배치별 품질검사 근거를 확인하고 출하 검토 상태와 판단 사유를 기록한다.</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Datasource</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1단계에서 확인한 batch_master</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Primary key / Title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둘 다 batch_id. 기본키는 객체 식별용, Title은 목록에 보여줄 대표값</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원천 속성 매핑</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Batch Id ← batch_id / Manufacture Date ← manufacture_date / Product Code ← product_code /</a:t>
                      </a:r>
                    </a:p>
                    <a:p>
                      <a:pPr algn="l">
                        <a:lnSpc>
                          <a:spcPct val="110000"/>
                        </a:lnSpc>
                        <a:spcAft>
                          <a:spcPts val="0"/>
                        </a:spcAft>
                        <a:defRPr sz="1300" b="0">
                          <a:solidFill>
                            <a:srgbClr val="182B25"/>
                          </a:solidFill>
                          <a:latin typeface="Malgun Gothic"/>
                        </a:defRPr>
                      </a:pPr>
                      <a:r>
                        <a:t>Recipe Id ← recipe_id. 기존 실습은 네 속성 모두 String</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Allow edits / Edits</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배치출하검토의 편집 허용을 켜고 Edits Enabled 상태 확인</a:t>
                      </a:r>
                    </a:p>
                  </a:txBody>
                  <a:tcPr marL="100584" marR="100584" marT="54864" marB="36576" anchor="t">
                    <a:solidFill>
                      <a:srgbClr val="FFFFFF"/>
                    </a:solidFill>
                  </a:tcPr>
                </a:tc>
              </a:tr>
            </a:tbl>
          </a:graphicData>
        </a:graphic>
      </p:graphicFrame>
      <p:sp>
        <p:nvSpPr>
          <p:cNvPr id="8" name="TextBox 7"/>
          <p:cNvSpPr txBox="1"/>
          <p:nvPr/>
        </p:nvSpPr>
        <p:spPr>
          <a:xfrm>
            <a:off x="502920" y="4906899"/>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생성 화면에서 완료 → Save to branch → 변경사항 확인 화면에서 저장.</a:t>
            </a:r>
          </a:p>
        </p:txBody>
      </p:sp>
      <p:sp>
        <p:nvSpPr>
          <p:cNvPr id="9" name="Rounded Rectangle 8"/>
          <p:cNvSpPr/>
          <p:nvPr/>
        </p:nvSpPr>
        <p:spPr>
          <a:xfrm>
            <a:off x="502920" y="5332730"/>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479034"/>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타입에 원천 속성4개, 기본키와 Title=batch_id, 올바른 데이터 소스가 표시된다.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04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품질검사 Object Type을 만든다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18</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Ontology Manager → New → Object type → Use existing datasource</a:t>
            </a:r>
          </a:p>
        </p:txBody>
      </p:sp>
      <p:graphicFrame>
        <p:nvGraphicFramePr>
          <p:cNvPr id="7" name="Table 6"/>
          <p:cNvGraphicFramePr>
            <a:graphicFrameLocks noGrp="1"/>
          </p:cNvGraphicFramePr>
          <p:nvPr/>
        </p:nvGraphicFramePr>
        <p:xfrm>
          <a:off x="502920" y="1842516"/>
          <a:ext cx="11183111" cy="2881503"/>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Display name / 복수 표시 이름</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품질검사 / 품질검사</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API name 예시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QualityInspectionPractice0909 · 기존 이름과 충돌하지 않게 지정</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Description</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배치별 검사 항목, 측정값, 합격·불합격 결과를 조회한다.</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Datasource</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2단계에서 빌드 성공한 검사 출력 Dataset. inspection_id가 있는 출력 선택</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Primary key / Title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둘 다 inspection_id. batch_id는 같은 배치에 검사2건이 있어 기본키로 사용하지 않음</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속성 매핑과 타입</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Inspection Id ← inspection_id(String), Batch Id ← batch_id(String), Test Item ← test_item(String),</a:t>
                      </a:r>
                    </a:p>
                    <a:p>
                      <a:pPr algn="l">
                        <a:lnSpc>
                          <a:spcPct val="110000"/>
                        </a:lnSpc>
                        <a:spcAft>
                          <a:spcPts val="0"/>
                        </a:spcAft>
                        <a:defRPr sz="1300" b="0">
                          <a:solidFill>
                            <a:srgbClr val="182B25"/>
                          </a:solidFill>
                          <a:latin typeface="Malgun Gothic"/>
                        </a:defRPr>
                      </a:pPr>
                      <a:r>
                        <a:t>Result ← result(String), Measured Value ← measured_value(Double)</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검사 편집</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이번 액션은 검사 결과를 수정하지 않음. 검사값은 원본 결과를 유지</a:t>
                      </a:r>
                    </a:p>
                  </a:txBody>
                  <a:tcPr marL="100584" marR="100584" marT="54864" marB="36576" anchor="t">
                    <a:solidFill>
                      <a:srgbClr val="FFFFFF"/>
                    </a:solidFill>
                  </a:tcPr>
                </a:tc>
              </a:tr>
            </a:tbl>
          </a:graphicData>
        </a:graphic>
      </p:graphicFrame>
      <p:sp>
        <p:nvSpPr>
          <p:cNvPr id="8" name="TextBox 7"/>
          <p:cNvSpPr txBox="1"/>
          <p:nvPr/>
        </p:nvSpPr>
        <p:spPr>
          <a:xfrm>
            <a:off x="502920" y="4906899"/>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생성 완료 → Save to branch. 배치출하검토와 같은 브랜치인지 확인.</a:t>
            </a:r>
          </a:p>
        </p:txBody>
      </p:sp>
      <p:sp>
        <p:nvSpPr>
          <p:cNvPr id="9" name="Rounded Rectangle 8"/>
          <p:cNvSpPr/>
          <p:nvPr/>
        </p:nvSpPr>
        <p:spPr>
          <a:xfrm>
            <a:off x="502920" y="5332730"/>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479034"/>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속성5개, 기본키=inspection_id. 객체 데이터가 준비되면 검사60건이 조회된다.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05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배치에 검토용 Property 4개를 추가한다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19</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배치출하검토 → Properties → Create Property → Data</a:t>
            </a:r>
          </a:p>
        </p:txBody>
      </p:sp>
      <p:graphicFrame>
        <p:nvGraphicFramePr>
          <p:cNvPr id="7" name="Table 6"/>
          <p:cNvGraphicFramePr>
            <a:graphicFrameLocks noGrp="1"/>
          </p:cNvGraphicFramePr>
          <p:nvPr/>
        </p:nvGraphicFramePr>
        <p:xfrm>
          <a:off x="502920" y="1842516"/>
          <a:ext cx="11183111" cy="2753487"/>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540766">
                <a:tc>
                  <a:txBody>
                    <a:bodyPr wrap="none"/>
                    <a:lstStyle/>
                    <a:p>
                      <a:pPr algn="l">
                        <a:lnSpc>
                          <a:spcPct val="110000"/>
                        </a:lnSpc>
                        <a:spcAft>
                          <a:spcPts val="0"/>
                        </a:spcAft>
                        <a:defRPr sz="1300" b="0">
                          <a:solidFill>
                            <a:srgbClr val="182B25"/>
                          </a:solidFill>
                          <a:latin typeface="Malgun Gothic"/>
                        </a:defRPr>
                      </a:pPr>
                      <a:r>
                        <a:t>검토 상태</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API 예시 reviewStatus / String / Description: 사람이 선택한 출하 검토 결과. 검토중, 보류, 승인 중</a:t>
                      </a:r>
                    </a:p>
                    <a:p>
                      <a:pPr algn="l">
                        <a:lnSpc>
                          <a:spcPct val="110000"/>
                        </a:lnSpc>
                        <a:spcAft>
                          <a:spcPts val="0"/>
                        </a:spcAft>
                        <a:defRPr sz="1300" b="0">
                          <a:solidFill>
                            <a:srgbClr val="182B25"/>
                          </a:solidFill>
                          <a:latin typeface="Malgun Gothic"/>
                        </a:defRPr>
                      </a:pPr>
                      <a:r>
                        <a:t>하나를 기록한다.</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보류 사유</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API 예시 holdReason / String / Description: 배치를 보류한 이유. 검토 상태가 보류일 때 반드시 입</a:t>
                      </a:r>
                    </a:p>
                    <a:p>
                      <a:pPr algn="l">
                        <a:lnSpc>
                          <a:spcPct val="110000"/>
                        </a:lnSpc>
                        <a:spcAft>
                          <a:spcPts val="0"/>
                        </a:spcAft>
                        <a:defRPr sz="1300" b="0">
                          <a:solidFill>
                            <a:srgbClr val="182B25"/>
                          </a:solidFill>
                          <a:latin typeface="Malgun Gothic"/>
                        </a:defRPr>
                      </a:pPr>
                      <a:r>
                        <a:t>력한다.</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판정자</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API 예시 decidedBy / String / Description: 출하 검토 기록 액션을 실행한 사용자.</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판정 시각</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API 예시 decidedAt / Timestamp / Description: 출하 검토 기록 액션을 실행한 날짜와 시각.</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네 속성 공통 Data 설정</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Edit-only property. 원본 컬럼을 연결하지 않고 액션이 값을 기록하도록 설정</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권한 기준 Dataset을 요구하면</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 객체의 권한 기준 Dataset 확인·선택. 입력값을 읽어올 원천 컬럼 선택과 다른 설정</a:t>
                      </a:r>
                    </a:p>
                  </a:txBody>
                  <a:tcPr marL="100584" marR="100584" marT="54864" marB="36576" anchor="t">
                    <a:solidFill>
                      <a:srgbClr val="F7F9F6"/>
                    </a:solidFill>
                  </a:tcPr>
                </a:tc>
              </a:tr>
            </a:tbl>
          </a:graphicData>
        </a:graphic>
      </p:graphicFrame>
      <p:sp>
        <p:nvSpPr>
          <p:cNvPr id="8" name="TextBox 7"/>
          <p:cNvSpPr txBox="1"/>
          <p:nvPr/>
        </p:nvSpPr>
        <p:spPr>
          <a:xfrm>
            <a:off x="502920" y="4778883"/>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각 속성 추가 후 Save to branch. 기본4개 + 검토4개 = 총8개 확인.</a:t>
            </a:r>
          </a:p>
        </p:txBody>
      </p:sp>
      <p:sp>
        <p:nvSpPr>
          <p:cNvPr id="9" name="Rounded Rectangle 8"/>
          <p:cNvSpPr/>
          <p:nvPr/>
        </p:nvSpPr>
        <p:spPr>
          <a:xfrm>
            <a:off x="502920" y="5204714"/>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351018"/>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검토용 네 속성이 저장돼 있고 판정 시각만 Timestamp다. 기존 속성과 중복되지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06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배치와 검사를 Link Type으로 연결한다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20</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Ontology Manager → New → Link type → Object type foreign keys</a:t>
            </a:r>
          </a:p>
        </p:txBody>
      </p:sp>
      <p:graphicFrame>
        <p:nvGraphicFramePr>
          <p:cNvPr id="7" name="Table 6"/>
          <p:cNvGraphicFramePr>
            <a:graphicFrameLocks noGrp="1"/>
          </p:cNvGraphicFramePr>
          <p:nvPr/>
        </p:nvGraphicFramePr>
        <p:xfrm>
          <a:off x="502920" y="1842516"/>
          <a:ext cx="11183111" cy="2881503"/>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Many 쪽 Object Type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품질검사</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Foreign key 속성</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품질검사의 batch_id / Batch Id</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One 쪽 Object Type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배치출하검토</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상대 기본키</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배치출하검토의 batch_id / Batch Id</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관계 방향</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배치1건 : 품질검사여러 건. 검사1건은 배치1건에 연결</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양방향 이름</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배치에서 보는 연결 목록: 품질검사 / 검사에서 보는 연결 대상: 배치출하검토</a:t>
                      </a:r>
                    </a:p>
                  </a:txBody>
                  <a:tcPr marL="100584" marR="100584" marT="54864" marB="36576" anchor="t">
                    <a:solidFill>
                      <a:srgbClr val="F7F9F6"/>
                    </a:solidFill>
                  </a:tcPr>
                </a:tc>
              </a:tr>
              <a:tr h="540766">
                <a:tc>
                  <a:txBody>
                    <a:bodyPr wrap="none"/>
                    <a:lstStyle/>
                    <a:p>
                      <a:pPr algn="l">
                        <a:lnSpc>
                          <a:spcPct val="110000"/>
                        </a:lnSpc>
                        <a:spcAft>
                          <a:spcPts val="0"/>
                        </a:spcAft>
                        <a:defRPr sz="1300" b="0">
                          <a:solidFill>
                            <a:srgbClr val="182B25"/>
                          </a:solidFill>
                          <a:latin typeface="Malgun Gothic"/>
                        </a:defRPr>
                      </a:pPr>
                      <a:r>
                        <a:t>API·설명 입력칸이 있으면</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방향별 고유 API 이름 지정. 설명 예시: 배치별 품질검사를 batch_id로 연결해 검토 근거를 확인한다</a:t>
                      </a:r>
                    </a:p>
                    <a:p>
                      <a:pPr algn="l">
                        <a:lnSpc>
                          <a:spcPct val="110000"/>
                        </a:lnSpc>
                        <a:spcAft>
                          <a:spcPts val="0"/>
                        </a:spcAft>
                        <a:defRPr sz="1300" b="0">
                          <a:solidFill>
                            <a:srgbClr val="182B25"/>
                          </a:solidFill>
                          <a:latin typeface="Malgun Gothic"/>
                        </a:defRPr>
                      </a:pPr>
                      <a:r>
                        <a:t>.</a:t>
                      </a:r>
                    </a:p>
                  </a:txBody>
                  <a:tcPr marL="100584" marR="100584" marT="54864" marB="36576" anchor="t">
                    <a:solidFill>
                      <a:srgbClr val="FFFFFF"/>
                    </a:solidFill>
                  </a:tcPr>
                </a:tc>
              </a:tr>
            </a:tbl>
          </a:graphicData>
        </a:graphic>
      </p:graphicFrame>
      <p:sp>
        <p:nvSpPr>
          <p:cNvPr id="8" name="TextBox 7"/>
          <p:cNvSpPr txBox="1"/>
          <p:nvPr/>
        </p:nvSpPr>
        <p:spPr>
          <a:xfrm>
            <a:off x="502920" y="4906899"/>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Link Type 생성 완료 → Save to branch.</a:t>
            </a:r>
          </a:p>
        </p:txBody>
      </p:sp>
      <p:sp>
        <p:nvSpPr>
          <p:cNvPr id="9" name="Rounded Rectangle 8"/>
          <p:cNvSpPr/>
          <p:nvPr/>
        </p:nvSpPr>
        <p:spPr>
          <a:xfrm>
            <a:off x="502920" y="5332730"/>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479034"/>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양쪽 타입과 키가 맞고, 데이터 준비 후 DEMO-01-02에서 내용량·점도2건이 연결된다.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07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출하 검토 기록 Action Type을 만든다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21</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Ontology Manager → New → Action type</a:t>
            </a:r>
          </a:p>
        </p:txBody>
      </p:sp>
      <p:graphicFrame>
        <p:nvGraphicFramePr>
          <p:cNvPr id="7" name="Table 6"/>
          <p:cNvGraphicFramePr>
            <a:graphicFrameLocks noGrp="1"/>
          </p:cNvGraphicFramePr>
          <p:nvPr/>
        </p:nvGraphicFramePr>
        <p:xfrm>
          <a:off x="502920" y="1842516"/>
          <a:ext cx="11183111" cy="2675128"/>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Display name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출하 검토 기록</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API name 예시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record-batch-review-practice-0909 · 입력칸의 유효성 검사와 이름 충돌 확인</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Description</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선택한 배치의 검토 상태와 보류 사유를 저장하고, 실행한 사용자와 시각을 함께 기록한다.</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규칙 종류</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Modify object · 기존 객체 수정. Create object로 새 배치를 만드는 흐름이 아님</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수정할 Object Type</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현재 브랜치의 배치출하검토</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대상 객체 Parameter</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배치출하검토 객체1개를 받는 파라미터 사용. 자동 생성됐으면 재사용</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규칙의 대상 연결</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Modify 규칙이 위 대상 객체 파라미터를 참조하도록 연결. Parameter is missing 오류 없어야 함</a:t>
                      </a:r>
                    </a:p>
                  </a:txBody>
                  <a:tcPr marL="100584" marR="100584" marT="54864" marB="36576" anchor="t">
                    <a:solidFill>
                      <a:srgbClr val="FFFFFF"/>
                    </a:solidFill>
                  </a:tcPr>
                </a:tc>
              </a:tr>
            </a:tbl>
          </a:graphicData>
        </a:graphic>
      </p:graphicFrame>
      <p:sp>
        <p:nvSpPr>
          <p:cNvPr id="8" name="TextBox 7"/>
          <p:cNvSpPr txBox="1"/>
          <p:nvPr/>
        </p:nvSpPr>
        <p:spPr>
          <a:xfrm>
            <a:off x="502920" y="4700524"/>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생성 마법사를 완료하고 초안의 Rules·Parameters를 이어서 설정한다.</a:t>
            </a:r>
          </a:p>
        </p:txBody>
      </p:sp>
      <p:sp>
        <p:nvSpPr>
          <p:cNvPr id="9" name="Rounded Rectangle 8"/>
          <p:cNvSpPr/>
          <p:nvPr/>
        </p:nvSpPr>
        <p:spPr>
          <a:xfrm>
            <a:off x="502920" y="5126355"/>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272659"/>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수정 대상이 배치출하검토이고, 어느 객체를 수정할지 받는 대상 파라미터가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08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사람이 입력할 Parameter를 설정한다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22</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출하 검토 기록 → Parameters</a:t>
            </a:r>
          </a:p>
        </p:txBody>
      </p:sp>
      <p:graphicFrame>
        <p:nvGraphicFramePr>
          <p:cNvPr id="7" name="Table 6"/>
          <p:cNvGraphicFramePr>
            <a:graphicFrameLocks noGrp="1"/>
          </p:cNvGraphicFramePr>
          <p:nvPr/>
        </p:nvGraphicFramePr>
        <p:xfrm>
          <a:off x="502920" y="1842516"/>
          <a:ext cx="11183111" cy="2881503"/>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대상 배치</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Object reference / 배치출하검토1개 / 필수. 설명: 검토 결과를 기록할 배치</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검토 상태</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String / 선택지: 검토중, 보류, 승인 / Required 켜기</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검토 상태 설명</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검토 결과를 선택한다. 보류를 선택하면 보류 사유를 입력한다.</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보류 사유</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String / 기본 Required 끄기 / 사람이 이유를 적는 입력칸으로 표시</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보류 사유 설명</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내용량 불합격 등 배치를 보류하는 이유를 입력한다.</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판정자·판정 시각</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사용자에게 입력받을 파라미터는 만들지 않음. Rules에서 자동 값 연결</a:t>
                      </a:r>
                    </a:p>
                  </a:txBody>
                  <a:tcPr marL="100584" marR="100584" marT="54864" marB="36576" anchor="t">
                    <a:solidFill>
                      <a:srgbClr val="F7F9F6"/>
                    </a:solidFill>
                  </a:tcPr>
                </a:tc>
              </a:tr>
              <a:tr h="540766">
                <a:tc>
                  <a:txBody>
                    <a:bodyPr wrap="none"/>
                    <a:lstStyle/>
                    <a:p>
                      <a:pPr algn="l">
                        <a:lnSpc>
                          <a:spcPct val="110000"/>
                        </a:lnSpc>
                        <a:spcAft>
                          <a:spcPts val="0"/>
                        </a:spcAft>
                        <a:defRPr sz="1300" b="0">
                          <a:solidFill>
                            <a:srgbClr val="182B25"/>
                          </a:solidFill>
                          <a:latin typeface="Malgun Gothic"/>
                        </a:defRPr>
                      </a:pPr>
                      <a:r>
                        <a:t>미리보기 확인</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검토 상태의 세 선택지와 보류 사유 입력칸이 보인다. 입력해야 할 칸이 숨김 처리돼 있지 않은지</a:t>
                      </a:r>
                    </a:p>
                    <a:p>
                      <a:pPr algn="l">
                        <a:lnSpc>
                          <a:spcPct val="110000"/>
                        </a:lnSpc>
                        <a:spcAft>
                          <a:spcPts val="0"/>
                        </a:spcAft>
                        <a:defRPr sz="1300" b="0">
                          <a:solidFill>
                            <a:srgbClr val="182B25"/>
                          </a:solidFill>
                          <a:latin typeface="Malgun Gothic"/>
                        </a:defRPr>
                      </a:pPr>
                      <a:r>
                        <a:t>확인</a:t>
                      </a:r>
                    </a:p>
                  </a:txBody>
                  <a:tcPr marL="100584" marR="100584" marT="54864" marB="36576" anchor="t">
                    <a:solidFill>
                      <a:srgbClr val="FFFFFF"/>
                    </a:solidFill>
                  </a:tcPr>
                </a:tc>
              </a:tr>
            </a:tbl>
          </a:graphicData>
        </a:graphic>
      </p:graphicFrame>
      <p:sp>
        <p:nvSpPr>
          <p:cNvPr id="8" name="TextBox 7"/>
          <p:cNvSpPr txBox="1"/>
          <p:nvPr/>
        </p:nvSpPr>
        <p:spPr>
          <a:xfrm>
            <a:off x="502920" y="4906899"/>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Parameters 설정을 유지하고 다음 Rules 설정으로 이동.</a:t>
            </a:r>
          </a:p>
        </p:txBody>
      </p:sp>
      <p:sp>
        <p:nvSpPr>
          <p:cNvPr id="9" name="Rounded Rectangle 8"/>
          <p:cNvSpPr/>
          <p:nvPr/>
        </p:nvSpPr>
        <p:spPr>
          <a:xfrm>
            <a:off x="502920" y="5332730"/>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479034"/>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입력값은 대상 배치·검토 상태·보류 사유의3개. 불필요한 New parameter가 남지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09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입력값과 저장할 속성을 연결한다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23</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출하 검토 기록 → Rules → Modify 배치출하검토</a:t>
            </a:r>
          </a:p>
        </p:txBody>
      </p:sp>
      <p:graphicFrame>
        <p:nvGraphicFramePr>
          <p:cNvPr id="7" name="Table 6"/>
          <p:cNvGraphicFramePr>
            <a:graphicFrameLocks noGrp="1"/>
          </p:cNvGraphicFramePr>
          <p:nvPr/>
        </p:nvGraphicFramePr>
        <p:xfrm>
          <a:off x="502920" y="1842516"/>
          <a:ext cx="11183111" cy="2340737"/>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수정 대상</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8단계의 대상 배치 파라미터</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검토 상태 속성</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값의 출처: Parameter → 검토 상태</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보류 사유 속성</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값의 출처: Parameter → 보류 사유</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판정자 속성</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값의 출처: Current User</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판정 시각 속성</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값의 출처: Current Time</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Current Time이 안 보이면</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 객체의 판정 시각 타입이 Timestamp인지 확인 → 타입·속성 저장 → 액션 규칙 다시 확인</a:t>
                      </a:r>
                    </a:p>
                  </a:txBody>
                  <a:tcPr marL="100584" marR="100584" marT="54864" marB="36576" anchor="t">
                    <a:solidFill>
                      <a:srgbClr val="F7F9F6"/>
                    </a:solidFill>
                  </a:tcPr>
                </a:tc>
              </a:tr>
            </a:tbl>
          </a:graphicData>
        </a:graphic>
      </p:graphicFrame>
      <p:sp>
        <p:nvSpPr>
          <p:cNvPr id="8" name="TextBox 7"/>
          <p:cNvSpPr txBox="1"/>
          <p:nvPr/>
        </p:nvSpPr>
        <p:spPr>
          <a:xfrm>
            <a:off x="502920" y="4366133"/>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규칙과 입력값 연결을 저장한다. 필수 오류가 있으면 다음 단계 전에 해결.</a:t>
            </a:r>
          </a:p>
        </p:txBody>
      </p:sp>
      <p:sp>
        <p:nvSpPr>
          <p:cNvPr id="9" name="Rounded Rectangle 8"/>
          <p:cNvSpPr/>
          <p:nvPr/>
        </p:nvSpPr>
        <p:spPr>
          <a:xfrm>
            <a:off x="502920" y="4791964"/>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4938268"/>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Modify 대상1개, 변경할 속성4개. 파라미터 누락이나 연결되지 않은 입력값이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10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보류일 때만 사유가 필수가 되게 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24</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Parameters → 보류 사유 → General → Required</a:t>
            </a:r>
          </a:p>
        </p:txBody>
      </p:sp>
      <p:graphicFrame>
        <p:nvGraphicFramePr>
          <p:cNvPr id="7" name="Table 6"/>
          <p:cNvGraphicFramePr>
            <a:graphicFrameLocks noGrp="1"/>
          </p:cNvGraphicFramePr>
          <p:nvPr/>
        </p:nvGraphicFramePr>
        <p:xfrm>
          <a:off x="502920" y="1842516"/>
          <a:ext cx="11183111" cy="2675128"/>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1. 기본값</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Required 끄기</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2. 예외 추가</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Add override → IF 영역의 condition</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3. 비교할 값</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Based on → Parameter → 검토 상태</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4. 비교 조건</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Is equal to</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5. 비교 대상</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Compare against → Static value → String → 보류</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6. 조건이 맞으면</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THEN → Is Required 켜기</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7. 완료</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Done → Save to branch → 변경사항 확인 화면에서 Save to branch</a:t>
                      </a:r>
                    </a:p>
                  </a:txBody>
                  <a:tcPr marL="100584" marR="100584" marT="54864" marB="36576" anchor="t">
                    <a:solidFill>
                      <a:srgbClr val="FFFFFF"/>
                    </a:solidFill>
                  </a:tcPr>
                </a:tc>
              </a:tr>
            </a:tbl>
          </a:graphicData>
        </a:graphic>
      </p:graphicFrame>
      <p:sp>
        <p:nvSpPr>
          <p:cNvPr id="8" name="TextBox 7"/>
          <p:cNvSpPr txBox="1"/>
          <p:nvPr/>
        </p:nvSpPr>
        <p:spPr>
          <a:xfrm>
            <a:off x="502920" y="4700524"/>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Required 아래 1 override와 저장 완료 상태 확인.</a:t>
            </a:r>
          </a:p>
        </p:txBody>
      </p:sp>
      <p:sp>
        <p:nvSpPr>
          <p:cNvPr id="9" name="Rounded Rectangle 8"/>
          <p:cNvSpPr/>
          <p:nvPr/>
        </p:nvSpPr>
        <p:spPr>
          <a:xfrm>
            <a:off x="502920" y="5126355"/>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272659"/>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미리보기에서 검토중·승인은 필수 표시 없음, 보류에서만 사유 필수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11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저장·조회·Test run을 확인한다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25</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브랜치 변경 목록 / 객체 데이터 상태 / 액션 Test run</a:t>
            </a:r>
          </a:p>
        </p:txBody>
      </p:sp>
      <p:graphicFrame>
        <p:nvGraphicFramePr>
          <p:cNvPr id="7" name="Table 6"/>
          <p:cNvGraphicFramePr>
            <a:graphicFrameLocks noGrp="1"/>
          </p:cNvGraphicFramePr>
          <p:nvPr/>
        </p:nvGraphicFramePr>
        <p:xfrm>
          <a:off x="502920" y="1842516"/>
          <a:ext cx="11183111" cy="2959862"/>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저장 확인</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객체2개·링크1개·액션1개가 같은 브랜치에 저장됐는지 확인. 저장 오류 해결</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객체 데이터 준비</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현재 브랜치에서 배치와 검사 데이터 인덱싱이 완료됐는지 확인. 준비 요청이 표시되면 해당 브랜치</a:t>
                      </a:r>
                    </a:p>
                    <a:p>
                      <a:pPr algn="l">
                        <a:lnSpc>
                          <a:spcPct val="110000"/>
                        </a:lnSpc>
                        <a:spcAft>
                          <a:spcPts val="0"/>
                        </a:spcAft>
                        <a:defRPr sz="1300" b="0">
                          <a:solidFill>
                            <a:srgbClr val="182B25"/>
                          </a:solidFill>
                          <a:latin typeface="Malgun Gothic"/>
                        </a:defRPr>
                      </a:pPr>
                      <a:r>
                        <a:t>의 두 타입 데이터 준비 진행</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조회 확인</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배치30건·검사60건. DEMO-01-02와 연결된 검사2건 조회</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편집·권한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배치 Edits Enabled. 현재 사용자에게 대상 객체 편집·액션 실행 권한이 있는지 확인. 기존 제출 조건</a:t>
                      </a:r>
                    </a:p>
                    <a:p>
                      <a:pPr algn="l">
                        <a:lnSpc>
                          <a:spcPct val="110000"/>
                        </a:lnSpc>
                        <a:spcAft>
                          <a:spcPts val="0"/>
                        </a:spcAft>
                        <a:defRPr sz="1300" b="0">
                          <a:solidFill>
                            <a:srgbClr val="182B25"/>
                          </a:solidFill>
                          <a:latin typeface="Malgun Gothic"/>
                        </a:defRPr>
                      </a:pPr>
                      <a:r>
                        <a:t>과 권한을 임의로 삭제하지 않음</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Test run 입력</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대상 DEMO-01-02 / 검토 상태 보류 / 사유 [실습] 내용량 검사 불합격으로 재검사 필요</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변경 예정 값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검토 상태·사유·판정자·판정 시각이 의도한 값인지 확인. Test run만으로 실제 저장 완료라고 판단하</a:t>
                      </a:r>
                    </a:p>
                    <a:p>
                      <a:pPr algn="l">
                        <a:lnSpc>
                          <a:spcPct val="110000"/>
                        </a:lnSpc>
                        <a:spcAft>
                          <a:spcPts val="0"/>
                        </a:spcAft>
                        <a:defRPr sz="1300" b="0">
                          <a:solidFill>
                            <a:srgbClr val="182B25"/>
                          </a:solidFill>
                          <a:latin typeface="Malgun Gothic"/>
                        </a:defRPr>
                      </a:pPr>
                      <a:r>
                        <a:t>지 않음</a:t>
                      </a:r>
                    </a:p>
                  </a:txBody>
                  <a:tcPr marL="100584" marR="100584" marT="54864" marB="36576" anchor="t">
                    <a:solidFill>
                      <a:srgbClr val="F7F9F6"/>
                    </a:solidFill>
                  </a:tcPr>
                </a:tc>
              </a:tr>
            </a:tbl>
          </a:graphicData>
        </a:graphic>
      </p:graphicFrame>
      <p:sp>
        <p:nvSpPr>
          <p:cNvPr id="8" name="TextBox 7"/>
          <p:cNvSpPr txBox="1"/>
          <p:nvPr/>
        </p:nvSpPr>
        <p:spPr>
          <a:xfrm>
            <a:off x="502920" y="4985258"/>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모든 정의 저장과 데이터 준비를 완료한다. Test run 뒤 실제 제출은 다음 단계.</a:t>
            </a:r>
          </a:p>
        </p:txBody>
      </p:sp>
      <p:sp>
        <p:nvSpPr>
          <p:cNvPr id="9" name="Rounded Rectangle 8"/>
          <p:cNvSpPr/>
          <p:nvPr/>
        </p:nvSpPr>
        <p:spPr>
          <a:xfrm>
            <a:off x="502920" y="5411089"/>
            <a:ext cx="11183112" cy="603885"/>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5557393"/>
            <a:ext cx="10890504" cy="311277"/>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액션이 선택한 배치의 검토 속성4개만 바꾸려고 하고, 실제 객체와 링크를 조회할 수 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12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Insight에서 실제 제출하고 결과를 확인한다</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26</a:t>
            </a:r>
          </a:p>
        </p:txBody>
      </p:sp>
      <p:sp>
        <p:nvSpPr>
          <p:cNvPr id="6" name="TextBox 5"/>
          <p:cNvSpPr txBox="1"/>
          <p:nvPr/>
        </p:nvSpPr>
        <p:spPr>
          <a:xfrm>
            <a:off x="502920" y="1432560"/>
            <a:ext cx="11183112" cy="263652"/>
          </a:xfrm>
          <a:prstGeom prst="rect">
            <a:avLst/>
          </a:prstGeom>
          <a:noFill/>
        </p:spPr>
        <p:txBody>
          <a:bodyPr wrap="none" lIns="0" rIns="0" tIns="0" bIns="0">
            <a:noAutofit/>
          </a:bodyPr>
          <a:lstStyle/>
          <a:p>
            <a:pPr algn="l">
              <a:lnSpc>
                <a:spcPct val="112000"/>
              </a:lnSpc>
              <a:spcBef>
                <a:spcPts val="0"/>
              </a:spcBef>
              <a:spcAft>
                <a:spcPts val="0"/>
              </a:spcAft>
              <a:defRPr sz="1200" b="0">
                <a:solidFill>
                  <a:srgbClr val="4C6258"/>
                </a:solidFill>
                <a:latin typeface="Malgun Gothic"/>
              </a:defRPr>
            </a:pPr>
            <a:r>
              <a:t>들어갈 곳: 배치출하검토 → Overview → Open in → Insight</a:t>
            </a:r>
          </a:p>
        </p:txBody>
      </p:sp>
      <p:graphicFrame>
        <p:nvGraphicFramePr>
          <p:cNvPr id="7" name="Table 6"/>
          <p:cNvGraphicFramePr>
            <a:graphicFrameLocks noGrp="1"/>
          </p:cNvGraphicFramePr>
          <p:nvPr/>
        </p:nvGraphicFramePr>
        <p:xfrm>
          <a:off x="502920" y="1842516"/>
          <a:ext cx="11183111" cy="3087878"/>
        </p:xfrm>
        <a:graphic>
          <a:graphicData uri="http://schemas.openxmlformats.org/drawingml/2006/table">
            <a:tbl>
              <a:tblPr firstRow="1" bandRow="1">
                <a:tableStyleId>{5C22544A-7EE6-4342-B048-85BDC9FD1C3A}</a:tableStyleId>
              </a:tblPr>
              <a:tblGrid>
                <a:gridCol w="3243102"/>
                <a:gridCol w="7940009"/>
              </a:tblGrid>
              <a:tr h="334391">
                <a:tc>
                  <a:txBody>
                    <a:bodyPr wrap="none"/>
                    <a:lstStyle/>
                    <a:p>
                      <a:pPr algn="l">
                        <a:lnSpc>
                          <a:spcPct val="110000"/>
                        </a:lnSpc>
                        <a:spcAft>
                          <a:spcPts val="0"/>
                        </a:spcAft>
                        <a:defRPr sz="1300" b="1">
                          <a:solidFill>
                            <a:srgbClr val="17694E"/>
                          </a:solidFill>
                          <a:latin typeface="Malgun Gothic"/>
                        </a:defRPr>
                      </a:pPr>
                      <a:r>
                        <a:t>설정 항목 / 순서</a:t>
                      </a:r>
                    </a:p>
                  </a:txBody>
                  <a:tcPr marL="100584" marR="100584" marT="54864" marB="36576" anchor="t">
                    <a:solidFill>
                      <a:srgbClr val="E5F1E9"/>
                    </a:solidFill>
                  </a:tcPr>
                </a:tc>
                <a:tc>
                  <a:txBody>
                    <a:bodyPr wrap="none"/>
                    <a:lstStyle/>
                    <a:p>
                      <a:pPr algn="l">
                        <a:lnSpc>
                          <a:spcPct val="110000"/>
                        </a:lnSpc>
                        <a:spcAft>
                          <a:spcPts val="0"/>
                        </a:spcAft>
                        <a:defRPr sz="1300" b="1">
                          <a:solidFill>
                            <a:srgbClr val="17694E"/>
                          </a:solidFill>
                          <a:latin typeface="Malgun Gothic"/>
                        </a:defRPr>
                      </a:pPr>
                      <a:r>
                        <a:t>입력하거나 확인할 값</a:t>
                      </a:r>
                    </a:p>
                  </a:txBody>
                  <a:tcPr marL="100584" marR="100584" marT="54864" marB="36576" anchor="t">
                    <a:solidFill>
                      <a:srgbClr val="E5F1E9"/>
                    </a:solidFill>
                  </a:tcPr>
                </a:tc>
              </a:tr>
              <a:tr h="334391">
                <a:tc>
                  <a:txBody>
                    <a:bodyPr wrap="none"/>
                    <a:lstStyle/>
                    <a:p>
                      <a:pPr algn="l">
                        <a:lnSpc>
                          <a:spcPct val="110000"/>
                        </a:lnSpc>
                        <a:spcAft>
                          <a:spcPts val="0"/>
                        </a:spcAft>
                        <a:defRPr sz="1300" b="0">
                          <a:solidFill>
                            <a:srgbClr val="182B25"/>
                          </a:solidFill>
                          <a:latin typeface="Malgun Gothic"/>
                        </a:defRPr>
                      </a:pPr>
                      <a:r>
                        <a:t>1. 대상 열기</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실습 브랜치 확인 → Title에서 DEMO-01-02 더블클릭</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2. 검사 근거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Linked objects → 내용량 불합격98.20 / 점도 합격5100 확인</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3. 액션 선택</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Actions → 출하 검토 기록 → 자동 지정된 배치 확인</a:t>
                      </a:r>
                    </a:p>
                  </a:txBody>
                  <a:tcPr marL="100584" marR="100584" marT="54864" marB="36576" anchor="t">
                    <a:solidFill>
                      <a:srgbClr val="FFFFFF"/>
                    </a:solidFill>
                  </a:tcPr>
                </a:tc>
              </a:tr>
              <a:tr h="334391">
                <a:tc>
                  <a:txBody>
                    <a:bodyPr wrap="none"/>
                    <a:lstStyle/>
                    <a:p>
                      <a:pPr algn="l">
                        <a:lnSpc>
                          <a:spcPct val="110000"/>
                        </a:lnSpc>
                        <a:spcAft>
                          <a:spcPts val="0"/>
                        </a:spcAft>
                        <a:defRPr sz="1300" b="0">
                          <a:solidFill>
                            <a:srgbClr val="182B25"/>
                          </a:solidFill>
                          <a:latin typeface="Malgun Gothic"/>
                        </a:defRPr>
                      </a:pPr>
                      <a:r>
                        <a:t>4. 값 입력</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검토 상태 보류 / 사유 [실습] 내용량 검사 불합격으로 재검사 필요</a:t>
                      </a:r>
                    </a:p>
                  </a:txBody>
                  <a:tcPr marL="100584" marR="100584" marT="54864" marB="36576" anchor="t">
                    <a:solidFill>
                      <a:srgbClr val="F7F9F6"/>
                    </a:solidFill>
                  </a:tcPr>
                </a:tc>
              </a:tr>
              <a:tr h="334391">
                <a:tc>
                  <a:txBody>
                    <a:bodyPr wrap="none"/>
                    <a:lstStyle/>
                    <a:p>
                      <a:pPr algn="l">
                        <a:lnSpc>
                          <a:spcPct val="110000"/>
                        </a:lnSpc>
                        <a:spcAft>
                          <a:spcPts val="0"/>
                        </a:spcAft>
                        <a:defRPr sz="1300" b="0">
                          <a:solidFill>
                            <a:srgbClr val="182B25"/>
                          </a:solidFill>
                          <a:latin typeface="Malgun Gothic"/>
                        </a:defRPr>
                      </a:pPr>
                      <a:r>
                        <a:t>5. 실제 기록</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Submit → Edits successfully applied. 메시지 확인</a:t>
                      </a:r>
                    </a:p>
                  </a:txBody>
                  <a:tcPr marL="100584" marR="100584" marT="54864" marB="36576" anchor="t">
                    <a:solidFill>
                      <a:srgbClr val="FFFFFF"/>
                    </a:solidFill>
                  </a:tcPr>
                </a:tc>
              </a:tr>
              <a:tr h="540766">
                <a:tc>
                  <a:txBody>
                    <a:bodyPr wrap="none"/>
                    <a:lstStyle/>
                    <a:p>
                      <a:pPr algn="l">
                        <a:lnSpc>
                          <a:spcPct val="110000"/>
                        </a:lnSpc>
                        <a:spcAft>
                          <a:spcPts val="0"/>
                        </a:spcAft>
                        <a:defRPr sz="1300" b="0">
                          <a:solidFill>
                            <a:srgbClr val="182B25"/>
                          </a:solidFill>
                          <a:latin typeface="Malgun Gothic"/>
                        </a:defRPr>
                      </a:pPr>
                      <a:r>
                        <a:t>6. 저장 결과 확인</a:t>
                      </a:r>
                    </a:p>
                  </a:txBody>
                  <a:tcPr marL="100584" marR="100584" marT="54864" marB="36576" anchor="t">
                    <a:solidFill>
                      <a:srgbClr val="F7F9F6"/>
                    </a:solidFill>
                  </a:tcPr>
                </a:tc>
                <a:tc>
                  <a:txBody>
                    <a:bodyPr wrap="none"/>
                    <a:lstStyle/>
                    <a:p>
                      <a:pPr algn="l">
                        <a:lnSpc>
                          <a:spcPct val="110000"/>
                        </a:lnSpc>
                        <a:spcAft>
                          <a:spcPts val="0"/>
                        </a:spcAft>
                        <a:defRPr sz="1300" b="0">
                          <a:solidFill>
                            <a:srgbClr val="182B25"/>
                          </a:solidFill>
                          <a:latin typeface="Malgun Gothic"/>
                        </a:defRPr>
                      </a:pPr>
                      <a:r>
                        <a:t>Properties에서 보류·입력한 사유·실행한 사용자·이번 실행 시각 확인. 다시 조회해도 값이 남는지 확</a:t>
                      </a:r>
                    </a:p>
                    <a:p>
                      <a:pPr algn="l">
                        <a:lnSpc>
                          <a:spcPct val="110000"/>
                        </a:lnSpc>
                        <a:spcAft>
                          <a:spcPts val="0"/>
                        </a:spcAft>
                        <a:defRPr sz="1300" b="0">
                          <a:solidFill>
                            <a:srgbClr val="182B25"/>
                          </a:solidFill>
                          <a:latin typeface="Malgun Gothic"/>
                        </a:defRPr>
                      </a:pPr>
                      <a:r>
                        <a:t>인</a:t>
                      </a:r>
                    </a:p>
                  </a:txBody>
                  <a:tcPr marL="100584" marR="100584" marT="54864" marB="36576" anchor="t">
                    <a:solidFill>
                      <a:srgbClr val="F7F9F6"/>
                    </a:solidFill>
                  </a:tcPr>
                </a:tc>
              </a:tr>
              <a:tr h="540766">
                <a:tc>
                  <a:txBody>
                    <a:bodyPr wrap="none"/>
                    <a:lstStyle/>
                    <a:p>
                      <a:pPr algn="l">
                        <a:lnSpc>
                          <a:spcPct val="110000"/>
                        </a:lnSpc>
                        <a:spcAft>
                          <a:spcPts val="0"/>
                        </a:spcAft>
                        <a:defRPr sz="1300" b="0">
                          <a:solidFill>
                            <a:srgbClr val="182B25"/>
                          </a:solidFill>
                          <a:latin typeface="Malgun Gothic"/>
                        </a:defRPr>
                      </a:pPr>
                      <a:r>
                        <a:t>7. 실습 완료 기록</a:t>
                      </a:r>
                    </a:p>
                  </a:txBody>
                  <a:tcPr marL="100584" marR="100584" marT="54864" marB="36576" anchor="t">
                    <a:solidFill>
                      <a:srgbClr val="FFFFFF"/>
                    </a:solidFill>
                  </a:tcPr>
                </a:tc>
                <a:tc>
                  <a:txBody>
                    <a:bodyPr wrap="none"/>
                    <a:lstStyle/>
                    <a:p>
                      <a:pPr algn="l">
                        <a:lnSpc>
                          <a:spcPct val="110000"/>
                        </a:lnSpc>
                        <a:spcAft>
                          <a:spcPts val="0"/>
                        </a:spcAft>
                        <a:defRPr sz="1300" b="0">
                          <a:solidFill>
                            <a:srgbClr val="182B25"/>
                          </a:solidFill>
                          <a:latin typeface="Malgun Gothic"/>
                        </a:defRPr>
                      </a:pPr>
                      <a:r>
                        <a:t>브랜치·대상 배치·액션·결과·실행 시각 기록. 기존 성공 기록의실행 당시 시각는 과거 예시이며 현재</a:t>
                      </a:r>
                    </a:p>
                    <a:p>
                      <a:pPr algn="l">
                        <a:lnSpc>
                          <a:spcPct val="110000"/>
                        </a:lnSpc>
                        <a:spcAft>
                          <a:spcPts val="0"/>
                        </a:spcAft>
                        <a:defRPr sz="1300" b="0">
                          <a:solidFill>
                            <a:srgbClr val="182B25"/>
                          </a:solidFill>
                          <a:latin typeface="Malgun Gothic"/>
                        </a:defRPr>
                      </a:pPr>
                      <a:r>
                        <a:t>기대값이 아님</a:t>
                      </a:r>
                    </a:p>
                  </a:txBody>
                  <a:tcPr marL="100584" marR="100584" marT="54864" marB="36576" anchor="t">
                    <a:solidFill>
                      <a:srgbClr val="FFFFFF"/>
                    </a:solidFill>
                  </a:tcPr>
                </a:tc>
              </a:tr>
            </a:tbl>
          </a:graphicData>
        </a:graphic>
      </p:graphicFrame>
      <p:sp>
        <p:nvSpPr>
          <p:cNvPr id="8" name="TextBox 7"/>
          <p:cNvSpPr txBox="1"/>
          <p:nvPr/>
        </p:nvSpPr>
        <p:spPr>
          <a:xfrm>
            <a:off x="502920" y="5113274"/>
            <a:ext cx="11183112" cy="279527"/>
          </a:xfrm>
          <a:prstGeom prst="rect">
            <a:avLst/>
          </a:prstGeom>
          <a:noFill/>
        </p:spPr>
        <p:txBody>
          <a:bodyPr wrap="none" lIns="0" rIns="0" tIns="0" bIns="0">
            <a:noAutofit/>
          </a:bodyPr>
          <a:lstStyle/>
          <a:p>
            <a:pPr algn="l">
              <a:lnSpc>
                <a:spcPct val="112000"/>
              </a:lnSpc>
              <a:spcBef>
                <a:spcPts val="0"/>
              </a:spcBef>
              <a:spcAft>
                <a:spcPts val="0"/>
              </a:spcAft>
              <a:defRPr sz="1300" b="0">
                <a:solidFill>
                  <a:srgbClr val="4C6258"/>
                </a:solidFill>
                <a:latin typeface="Malgun Gothic"/>
              </a:defRPr>
            </a:pPr>
            <a:r>
              <a:t>저장: Submit이 실제 기록 단계다. 저장 결과까지 확인한 뒤 실습을 마친다.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WALKTHROUGH 12 / 처음부터 끝까지 따라하기</a:t>
            </a:r>
          </a:p>
        </p:txBody>
      </p:sp>
      <p:sp>
        <p:nvSpPr>
          <p:cNvPr id="3" name="TextBox 2"/>
          <p:cNvSpPr txBox="1"/>
          <p:nvPr/>
        </p:nvSpPr>
        <p:spPr>
          <a:xfrm>
            <a:off x="502920" y="777240"/>
            <a:ext cx="11064240" cy="454152"/>
          </a:xfrm>
          <a:prstGeom prst="rect">
            <a:avLst/>
          </a:prstGeom>
          <a:noFill/>
        </p:spPr>
        <p:txBody>
          <a:bodyPr wrap="none" lIns="0" rIns="0" tIns="0" bIns="0">
            <a:noAutofit/>
          </a:bodyPr>
          <a:lstStyle/>
          <a:p>
            <a:pPr algn="l">
              <a:lnSpc>
                <a:spcPct val="112000"/>
              </a:lnSpc>
              <a:spcBef>
                <a:spcPts val="0"/>
              </a:spcBef>
              <a:spcAft>
                <a:spcPts val="0"/>
              </a:spcAft>
              <a:defRPr sz="2400" b="1">
                <a:solidFill>
                  <a:srgbClr val="182B25"/>
                </a:solidFill>
                <a:latin typeface="Malgun Gothic"/>
              </a:defRPr>
            </a:pPr>
            <a:r>
              <a:t>Insight에서 실제 제출하고 결과를 확인한다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27</a:t>
            </a:r>
          </a:p>
        </p:txBody>
      </p:sp>
      <p:sp>
        <p:nvSpPr>
          <p:cNvPr id="6" name="Rounded Rectangle 5"/>
          <p:cNvSpPr/>
          <p:nvPr/>
        </p:nvSpPr>
        <p:spPr>
          <a:xfrm>
            <a:off x="502920" y="1432560"/>
            <a:ext cx="11183112" cy="842010"/>
          </a:xfrm>
          <a:prstGeom prst="roundRect">
            <a:avLst>
              <a:gd name="adj" fmla="val 8000"/>
            </a:avLst>
          </a:prstGeom>
          <a:solidFill>
            <a:srgbClr val="E5F1E9"/>
          </a:solidFill>
          <a:ln w="8890">
            <a:solidFill>
              <a:srgbClr val="E5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1578864"/>
            <a:ext cx="10890504" cy="549402"/>
          </a:xfrm>
          <a:prstGeom prst="rect">
            <a:avLst/>
          </a:prstGeom>
          <a:noFill/>
        </p:spPr>
        <p:txBody>
          <a:bodyPr wrap="none" lIns="0" rIns="0" tIns="0" bIns="0">
            <a:noAutofit/>
          </a:bodyPr>
          <a:lstStyle/>
          <a:p>
            <a:pPr algn="l">
              <a:lnSpc>
                <a:spcPct val="112000"/>
              </a:lnSpc>
              <a:spcBef>
                <a:spcPts val="0"/>
              </a:spcBef>
              <a:spcAft>
                <a:spcPts val="0"/>
              </a:spcAft>
              <a:defRPr sz="1500" b="1">
                <a:solidFill>
                  <a:srgbClr val="17694E"/>
                </a:solidFill>
                <a:latin typeface="Malgun Gothic"/>
              </a:defRPr>
            </a:pPr>
            <a:r>
              <a:t>완료 확인: 배치에 검토 결과가 남고 기존 검사 측정값은 유지된다. 다음에 이어 할 때 사용할 브랜치와 마지막 성공 단</a:t>
            </a:r>
          </a:p>
          <a:p>
            <a:pPr algn="l">
              <a:lnSpc>
                <a:spcPct val="112000"/>
              </a:lnSpc>
              <a:spcBef>
                <a:spcPts val="0"/>
              </a:spcBef>
              <a:spcAft>
                <a:spcPts val="0"/>
              </a:spcAft>
              <a:defRPr sz="1500" b="1">
                <a:solidFill>
                  <a:srgbClr val="17694E"/>
                </a:solidFill>
                <a:latin typeface="Malgun Gothic"/>
              </a:defRPr>
            </a:pPr>
            <a:r>
              <a:t>계를 기록했다.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AI에게 구현 맡기기 · 프롬프트 전문</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28</a:t>
            </a:r>
          </a:p>
        </p:txBody>
      </p:sp>
      <p:sp>
        <p:nvSpPr>
          <p:cNvPr id="6" name="TextBox 5"/>
          <p:cNvSpPr txBox="1"/>
          <p:nvPr/>
        </p:nvSpPr>
        <p:spPr>
          <a:xfrm>
            <a:off x="502920" y="1496060"/>
            <a:ext cx="11183112"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나는 AI FDE가 요구사항을 실제 Foundry 자산으로 얼마나 잘 구현하는지 확인하려고 한다.</a:t>
            </a:r>
          </a:p>
          <a:p>
            <a:pPr algn="l">
              <a:lnSpc>
                <a:spcPct val="112000"/>
              </a:lnSpc>
              <a:spcBef>
                <a:spcPts val="0"/>
              </a:spcBef>
              <a:spcAft>
                <a:spcPts val="0"/>
              </a:spcAft>
              <a:defRPr sz="1500" b="0">
                <a:solidFill>
                  <a:srgbClr val="4C6258"/>
                </a:solidFill>
                <a:latin typeface="Malgun Gothic"/>
              </a:defRPr>
            </a:pPr>
            <a:r>
              <a:t>너는 이번 실습의 구현 담당자다. 아래 내용을 바탕으로 파이프라인과 온톨로지를 직접 만들어라.</a:t>
            </a:r>
          </a:p>
          <a:p>
            <a:pPr algn="l">
              <a:lnSpc>
                <a:spcPct val="112000"/>
              </a:lnSpc>
              <a:spcBef>
                <a:spcPts val="0"/>
              </a:spcBef>
              <a:spcAft>
                <a:spcPts val="0"/>
              </a:spcAft>
              <a:defRPr sz="1500" b="0">
                <a:solidFill>
                  <a:srgbClr val="4C6258"/>
                </a:solidFill>
                <a:latin typeface="Malgun Gothic"/>
              </a:defRPr>
            </a:pPr>
            <a:r>
              <a:t>이 요청은 단계별 클릭 안내가 아니라, 실습 브랜치 안에서 구현하고 결과를 보고하는 요청이다.</a:t>
            </a:r>
          </a:p>
        </p:txBody>
      </p:sp>
      <p:sp>
        <p:nvSpPr>
          <p:cNvPr id="7" name="TextBox 6"/>
          <p:cNvSpPr txBox="1"/>
          <p:nvPr/>
        </p:nvSpPr>
        <p:spPr>
          <a:xfrm>
            <a:off x="502920" y="2429891"/>
            <a:ext cx="11183112" cy="102565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[업무와 데이터]</a:t>
            </a:r>
          </a:p>
          <a:p>
            <a:pPr algn="l">
              <a:lnSpc>
                <a:spcPct val="112000"/>
              </a:lnSpc>
              <a:spcBef>
                <a:spcPts val="0"/>
              </a:spcBef>
              <a:spcAft>
                <a:spcPts val="0"/>
              </a:spcAft>
              <a:defRPr sz="1500" b="0">
                <a:solidFill>
                  <a:srgbClr val="4C6258"/>
                </a:solidFill>
                <a:latin typeface="Malgun Gothic"/>
              </a:defRPr>
            </a:pPr>
            <a:r>
              <a:t>화장품 제조 배치의 품질검사 결과를 사람이 확인하고, 출하 검토 결과를 기록하는 실습이다.</a:t>
            </a:r>
          </a:p>
          <a:p>
            <a:pPr algn="l">
              <a:lnSpc>
                <a:spcPct val="112000"/>
              </a:lnSpc>
              <a:spcBef>
                <a:spcPts val="0"/>
              </a:spcBef>
              <a:spcAft>
                <a:spcPts val="0"/>
              </a:spcAft>
              <a:defRPr sz="1500" b="0">
                <a:solidFill>
                  <a:srgbClr val="4C6258"/>
                </a:solidFill>
                <a:latin typeface="Malgun Gothic"/>
              </a:defRPr>
            </a:pPr>
            <a:r>
              <a:t>최종 판단은 사람이 하며 검토 상태, 보류 사유, 판정자, 판정 시각을 남긴다.</a:t>
            </a:r>
          </a:p>
          <a:p>
            <a:pPr algn="l">
              <a:lnSpc>
                <a:spcPct val="112000"/>
              </a:lnSpc>
              <a:spcBef>
                <a:spcPts val="0"/>
              </a:spcBef>
              <a:spcAft>
                <a:spcPts val="0"/>
              </a:spcAft>
              <a:defRPr sz="1500" b="0">
                <a:solidFill>
                  <a:srgbClr val="4C6258"/>
                </a:solidFill>
                <a:latin typeface="Malgun Gothic"/>
              </a:defRPr>
            </a:pPr>
            <a:r>
              <a:t>실제 물류 시스템의 출하를 차단하거나 자동 승인하는 기능은 범위에 넣지 않는다.</a:t>
            </a:r>
          </a:p>
        </p:txBody>
      </p:sp>
      <p:sp>
        <p:nvSpPr>
          <p:cNvPr id="8" name="TextBox 7"/>
          <p:cNvSpPr txBox="1"/>
          <p:nvPr/>
        </p:nvSpPr>
        <p:spPr>
          <a:xfrm>
            <a:off x="502920" y="3601847"/>
            <a:ext cx="11183112"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현재 선택한 프로젝트와 작업 브랜치를 먼저 확인하고, 내가 지정하거나 첨부한 Dataset을 사용해라.</a:t>
            </a:r>
          </a:p>
          <a:p>
            <a:pPr algn="l">
              <a:lnSpc>
                <a:spcPct val="112000"/>
              </a:lnSpc>
              <a:spcBef>
                <a:spcPts val="0"/>
              </a:spcBef>
              <a:spcAft>
                <a:spcPts val="0"/>
              </a:spcAft>
              <a:defRPr sz="1500" b="0">
                <a:solidFill>
                  <a:srgbClr val="4C6258"/>
                </a:solidFill>
                <a:latin typeface="Malgun Gothic"/>
              </a:defRPr>
            </a:pPr>
            <a:r>
              <a:t>필요한 원본은 batch_master와 quality_inspection이다. 환경에 있는 실제 이름과 스키마를 확인해라.</a:t>
            </a:r>
          </a:p>
          <a:p>
            <a:pPr algn="l">
              <a:lnSpc>
                <a:spcPct val="112000"/>
              </a:lnSpc>
              <a:spcBef>
                <a:spcPts val="0"/>
              </a:spcBef>
              <a:spcAft>
                <a:spcPts val="0"/>
              </a:spcAft>
              <a:defRPr sz="1500" b="0">
                <a:solidFill>
                  <a:srgbClr val="4C6258"/>
                </a:solidFill>
                <a:latin typeface="Malgun Gothic"/>
              </a:defRPr>
            </a:pPr>
            <a:r>
              <a:t>기존 자산은 이름뿐 아니라 데이터 소스·기본키·브랜치가 같은지 확인한 뒤 재사용해라.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AI에게 구현 맡기기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29</a:t>
            </a:r>
          </a:p>
        </p:txBody>
      </p:sp>
      <p:sp>
        <p:nvSpPr>
          <p:cNvPr id="6" name="TextBox 5"/>
          <p:cNvSpPr txBox="1"/>
          <p:nvPr/>
        </p:nvSpPr>
        <p:spPr>
          <a:xfrm>
            <a:off x="502920" y="1496060"/>
            <a:ext cx="11183112" cy="2216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로컬 스터디 데이터 점검 결과는 아래와 같다. Foundry에서도 같은지 확인해라.</a:t>
            </a:r>
          </a:p>
          <a:p>
            <a:pPr algn="l">
              <a:lnSpc>
                <a:spcPct val="112000"/>
              </a:lnSpc>
              <a:spcBef>
                <a:spcPts val="0"/>
              </a:spcBef>
              <a:spcAft>
                <a:spcPts val="0"/>
              </a:spcAft>
              <a:defRPr sz="1500" b="0">
                <a:solidFill>
                  <a:srgbClr val="4C6258"/>
                </a:solidFill>
                <a:latin typeface="Malgun Gothic"/>
              </a:defRPr>
            </a:pPr>
            <a:r>
              <a:t>- 배치 30건, 품질검사 60건이며 검사.batch_id로 배치와 연결된다.</a:t>
            </a:r>
          </a:p>
          <a:p>
            <a:pPr algn="l">
              <a:lnSpc>
                <a:spcPct val="112000"/>
              </a:lnSpc>
              <a:spcBef>
                <a:spcPts val="0"/>
              </a:spcBef>
              <a:spcAft>
                <a:spcPts val="0"/>
              </a:spcAft>
              <a:defRPr sz="1500" b="0">
                <a:solidFill>
                  <a:srgbClr val="4C6258"/>
                </a:solidFill>
                <a:latin typeface="Malgun Gothic"/>
              </a:defRPr>
            </a:pPr>
            <a:r>
              <a:t>- 검사 결과는 합격52건·불합격8건이며 불합격은 내용량 항목에 있다.</a:t>
            </a:r>
          </a:p>
          <a:p>
            <a:pPr algn="l">
              <a:lnSpc>
                <a:spcPct val="112000"/>
              </a:lnSpc>
              <a:spcBef>
                <a:spcPts val="0"/>
              </a:spcBef>
              <a:spcAft>
                <a:spcPts val="0"/>
              </a:spcAft>
              <a:defRPr sz="1500" b="0">
                <a:solidFill>
                  <a:srgbClr val="4C6258"/>
                </a:solidFill>
                <a:latin typeface="Malgun Gothic"/>
              </a:defRPr>
            </a:pPr>
            <a:r>
              <a:t>- 측정값만으로 공통 합불 기준을 확정할 수 없다.</a:t>
            </a:r>
          </a:p>
          <a:p>
            <a:pPr algn="l">
              <a:lnSpc>
                <a:spcPct val="112000"/>
              </a:lnSpc>
              <a:spcBef>
                <a:spcPts val="0"/>
              </a:spcBef>
              <a:spcAft>
                <a:spcPts val="0"/>
              </a:spcAft>
              <a:defRPr sz="1500" b="0">
                <a:solidFill>
                  <a:srgbClr val="4C6258"/>
                </a:solidFill>
                <a:latin typeface="Malgun Gothic"/>
              </a:defRPr>
            </a:pPr>
            <a:r>
              <a:t>- 불량 유형이 없음인데 불량 수량이 양수인 행이18건 있다.</a:t>
            </a:r>
          </a:p>
          <a:p>
            <a:pPr algn="l">
              <a:lnSpc>
                <a:spcPct val="112000"/>
              </a:lnSpc>
              <a:spcBef>
                <a:spcPts val="0"/>
              </a:spcBef>
              <a:spcAft>
                <a:spcPts val="0"/>
              </a:spcAft>
              <a:defRPr sz="1500" b="0">
                <a:solidFill>
                  <a:srgbClr val="4C6258"/>
                </a:solidFill>
                <a:latin typeface="Malgun Gothic"/>
              </a:defRPr>
            </a:pPr>
            <a:r>
              <a:t>- 일부 문자열 손상과 시간 지표 불일치가 있다.</a:t>
            </a:r>
          </a:p>
          <a:p>
            <a:pPr algn="l">
              <a:lnSpc>
                <a:spcPct val="112000"/>
              </a:lnSpc>
              <a:spcBef>
                <a:spcPts val="0"/>
              </a:spcBef>
              <a:spcAft>
                <a:spcPts val="0"/>
              </a:spcAft>
              <a:defRPr sz="1500" b="0">
                <a:solidFill>
                  <a:srgbClr val="4C6258"/>
                </a:solidFill>
                <a:latin typeface="Malgun Gothic"/>
              </a:defRPr>
            </a:pPr>
            <a:r>
              <a:t>- 설비·센서에는 배치와 직접 연결할 키가 없다.</a:t>
            </a:r>
          </a:p>
          <a:p>
            <a:pPr algn="l">
              <a:lnSpc>
                <a:spcPct val="112000"/>
              </a:lnSpc>
              <a:spcBef>
                <a:spcPts val="0"/>
              </a:spcBef>
              <a:spcAft>
                <a:spcPts val="0"/>
              </a:spcAft>
              <a:defRPr sz="1500" b="0">
                <a:solidFill>
                  <a:srgbClr val="4C6258"/>
                </a:solidFill>
                <a:latin typeface="Malgun Gothic"/>
              </a:defRPr>
            </a:pPr>
            <a:r>
              <a:t>원본을 임의 보정하거나 연결 키를 추측하지 말고, 확인된 사실과 가정을 구분해라.</a:t>
            </a:r>
          </a:p>
          <a:p>
            <a:pPr algn="l">
              <a:lnSpc>
                <a:spcPct val="112000"/>
              </a:lnSpc>
              <a:spcBef>
                <a:spcPts val="0"/>
              </a:spcBef>
              <a:spcAft>
                <a:spcPts val="0"/>
              </a:spcAft>
              <a:defRPr sz="1500" b="0">
                <a:solidFill>
                  <a:srgbClr val="4C6258"/>
                </a:solidFill>
                <a:latin typeface="Malgun Gothic"/>
              </a:defRPr>
            </a:pPr>
            <a:r>
              <a:t>이번에 필요한 값·키·관계부터 확인하고 전체 데이터를 무조건 정제하지 마라.</a:t>
            </a:r>
          </a:p>
        </p:txBody>
      </p:sp>
      <p:sp>
        <p:nvSpPr>
          <p:cNvPr id="7" name="TextBox 6"/>
          <p:cNvSpPr txBox="1"/>
          <p:nvPr/>
        </p:nvSpPr>
        <p:spPr>
          <a:xfrm>
            <a:off x="502920" y="3858641"/>
            <a:ext cx="11183112" cy="197815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[적용할 설계 원칙 — 책의 Chapter 10에서 가져온 관점]</a:t>
            </a:r>
          </a:p>
          <a:p>
            <a:pPr algn="l">
              <a:lnSpc>
                <a:spcPct val="112000"/>
              </a:lnSpc>
              <a:spcBef>
                <a:spcPts val="0"/>
              </a:spcBef>
              <a:spcAft>
                <a:spcPts val="0"/>
              </a:spcAft>
              <a:defRPr sz="1500" b="0">
                <a:solidFill>
                  <a:srgbClr val="4C6258"/>
                </a:solidFill>
                <a:latin typeface="Malgun Gothic"/>
              </a:defRPr>
            </a:pPr>
            <a:r>
              <a:t>1. 액션부터 생각한다. 누가, 어떤 조건에서, 무엇을 입력하고, 실행 후 무엇이 바뀌는지 정한다.</a:t>
            </a:r>
          </a:p>
          <a:p>
            <a:pPr algn="l">
              <a:lnSpc>
                <a:spcPct val="112000"/>
              </a:lnSpc>
              <a:spcBef>
                <a:spcPts val="0"/>
              </a:spcBef>
              <a:spcAft>
                <a:spcPts val="0"/>
              </a:spcAft>
              <a:defRPr sz="1500" b="0">
                <a:solidFill>
                  <a:srgbClr val="4C6258"/>
                </a:solidFill>
                <a:latin typeface="Malgun Gothic"/>
              </a:defRPr>
            </a:pPr>
            <a:r>
              <a:t>2. Dataset마다 객체를 만들지 말고, 지금 판단할 대상과 필요한 근거만 객체로 둔다.</a:t>
            </a:r>
          </a:p>
          <a:p>
            <a:pPr algn="l">
              <a:lnSpc>
                <a:spcPct val="112000"/>
              </a:lnSpc>
              <a:spcBef>
                <a:spcPts val="0"/>
              </a:spcBef>
              <a:spcAft>
                <a:spcPts val="0"/>
              </a:spcAft>
              <a:defRPr sz="1500" b="0">
                <a:solidFill>
                  <a:srgbClr val="4C6258"/>
                </a:solidFill>
                <a:latin typeface="Malgun Gothic"/>
              </a:defRPr>
            </a:pPr>
            <a:r>
              <a:t>3. 링크는 판단에 필요한 관계만 연결하고, 각 연결의 이유를 설명한다.</a:t>
            </a:r>
          </a:p>
          <a:p>
            <a:pPr algn="l">
              <a:lnSpc>
                <a:spcPct val="112000"/>
              </a:lnSpc>
              <a:spcBef>
                <a:spcPts val="0"/>
              </a:spcBef>
              <a:spcAft>
                <a:spcPts val="0"/>
              </a:spcAft>
              <a:defRPr sz="1500" b="0">
                <a:solidFill>
                  <a:srgbClr val="4C6258"/>
                </a:solidFill>
                <a:latin typeface="Malgun Gothic"/>
              </a:defRPr>
            </a:pPr>
            <a:r>
              <a:t>4. 원천 검사 사실·계산 결과·사람이 결정한 검토 상태를 구분한다.</a:t>
            </a:r>
          </a:p>
          <a:p>
            <a:pPr algn="l">
              <a:lnSpc>
                <a:spcPct val="112000"/>
              </a:lnSpc>
              <a:spcBef>
                <a:spcPts val="0"/>
              </a:spcBef>
              <a:spcAft>
                <a:spcPts val="0"/>
              </a:spcAft>
              <a:defRPr sz="1500" b="0">
                <a:solidFill>
                  <a:srgbClr val="4C6258"/>
                </a:solidFill>
                <a:latin typeface="Malgun Gothic"/>
              </a:defRPr>
            </a:pPr>
            <a:r>
              <a:t>5. 판단에는 사유를 남기며, 실행 조건과 자동 실행 트리거를 혼동하지 않는다.</a:t>
            </a:r>
          </a:p>
          <a:p>
            <a:pPr algn="l">
              <a:lnSpc>
                <a:spcPct val="112000"/>
              </a:lnSpc>
              <a:spcBef>
                <a:spcPts val="0"/>
              </a:spcBef>
              <a:spcAft>
                <a:spcPts val="0"/>
              </a:spcAft>
              <a:defRPr sz="1500" b="0">
                <a:solidFill>
                  <a:srgbClr val="4C6258"/>
                </a:solidFill>
                <a:latin typeface="Malgun Gothic"/>
              </a:defRPr>
            </a:pPr>
            <a:r>
              <a:t>6. 과거 검사와 현재 검토 상태를 구분한다. 판정 시각 기록만으로 전체 이력이 보존된다고 설명하지 않는다.</a:t>
            </a:r>
          </a:p>
          <a:p>
            <a:pPr algn="l">
              <a:lnSpc>
                <a:spcPct val="112000"/>
              </a:lnSpc>
              <a:spcBef>
                <a:spcPts val="0"/>
              </a:spcBef>
              <a:spcAft>
                <a:spcPts val="0"/>
              </a:spcAft>
              <a:defRPr sz="1500" b="0">
                <a:solidFill>
                  <a:srgbClr val="4C6258"/>
                </a:solidFill>
                <a:latin typeface="Malgun Gothic"/>
              </a:defRPr>
            </a:pPr>
            <a:r>
              <a:t>7. 임계치와 승인 정책을 근거 없이 확정하지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AI에게 구현 맡기기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30</a:t>
            </a:r>
          </a:p>
        </p:txBody>
      </p:sp>
      <p:sp>
        <p:nvSpPr>
          <p:cNvPr id="6" name="TextBox 5"/>
          <p:cNvSpPr txBox="1"/>
          <p:nvPr/>
        </p:nvSpPr>
        <p:spPr>
          <a:xfrm>
            <a:off x="502920" y="1496060"/>
            <a:ext cx="11183112" cy="31687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[이번 실습의 목표 구조]</a:t>
            </a:r>
          </a:p>
          <a:p>
            <a:pPr algn="l">
              <a:lnSpc>
                <a:spcPct val="112000"/>
              </a:lnSpc>
              <a:spcBef>
                <a:spcPts val="0"/>
              </a:spcBef>
              <a:spcAft>
                <a:spcPts val="0"/>
              </a:spcAft>
              <a:defRPr sz="1500" b="0">
                <a:solidFill>
                  <a:srgbClr val="4C6258"/>
                </a:solidFill>
                <a:latin typeface="Malgun Gothic"/>
              </a:defRPr>
            </a:pPr>
            <a:r>
              <a:t>- 배치출하검토 Object Type: batch_master 사용, Primary key와 Title은 batch_id.</a:t>
            </a:r>
          </a:p>
          <a:p>
            <a:pPr algn="l">
              <a:lnSpc>
                <a:spcPct val="112000"/>
              </a:lnSpc>
              <a:spcBef>
                <a:spcPts val="0"/>
              </a:spcBef>
              <a:spcAft>
                <a:spcPts val="0"/>
              </a:spcAft>
              <a:defRPr sz="1500" b="0">
                <a:solidFill>
                  <a:srgbClr val="4C6258"/>
                </a:solidFill>
                <a:latin typeface="Malgun Gothic"/>
              </a:defRPr>
            </a:pPr>
            <a:r>
              <a:t>- 품질검사 Object Type: inspection_id를 포함한 출력 Dataset 사용, Primary key와 Title은 inspection_id.</a:t>
            </a:r>
          </a:p>
          <a:p>
            <a:pPr algn="l">
              <a:lnSpc>
                <a:spcPct val="112000"/>
              </a:lnSpc>
              <a:spcBef>
                <a:spcPts val="0"/>
              </a:spcBef>
              <a:spcAft>
                <a:spcPts val="0"/>
              </a:spcAft>
              <a:defRPr sz="1500" b="0">
                <a:solidFill>
                  <a:srgbClr val="4C6258"/>
                </a:solidFill>
                <a:latin typeface="Malgun Gothic"/>
              </a:defRPr>
            </a:pPr>
            <a:r>
              <a:t>- inspection_id가 없다면 Pipeline Builder로 batch_id + '::' + test_item을 만든다.</a:t>
            </a:r>
          </a:p>
          <a:p>
            <a:pPr algn="l">
              <a:lnSpc>
                <a:spcPct val="112000"/>
              </a:lnSpc>
              <a:spcBef>
                <a:spcPts val="0"/>
              </a:spcBef>
              <a:spcAft>
                <a:spcPts val="0"/>
              </a:spcAft>
              <a:defRPr sz="1500" b="0">
                <a:solidFill>
                  <a:srgbClr val="4C6258"/>
                </a:solidFill>
                <a:latin typeface="Malgun Gothic"/>
              </a:defRPr>
            </a:pPr>
            <a:r>
              <a:t>  현재 데이터에서 고유성을 확인하고, 중복이면 회차·실제 검사 ID를 확인한 뒤 설계를 정한다.</a:t>
            </a:r>
          </a:p>
          <a:p>
            <a:pPr algn="l">
              <a:lnSpc>
                <a:spcPct val="112000"/>
              </a:lnSpc>
              <a:spcBef>
                <a:spcPts val="0"/>
              </a:spcBef>
              <a:spcAft>
                <a:spcPts val="0"/>
              </a:spcAft>
              <a:defRPr sz="1500" b="0">
                <a:solidFill>
                  <a:srgbClr val="4C6258"/>
                </a:solidFill>
                <a:latin typeface="Malgun Gothic"/>
              </a:defRPr>
            </a:pPr>
            <a:r>
              <a:t>- 배치1 : 검사N 링크: 품질검사의 batch_id → 배치출하검토의 batch_id.</a:t>
            </a:r>
          </a:p>
          <a:p>
            <a:pPr algn="l">
              <a:lnSpc>
                <a:spcPct val="112000"/>
              </a:lnSpc>
              <a:spcBef>
                <a:spcPts val="0"/>
              </a:spcBef>
              <a:spcAft>
                <a:spcPts val="0"/>
              </a:spcAft>
              <a:defRPr sz="1500" b="0">
                <a:solidFill>
                  <a:srgbClr val="4C6258"/>
                </a:solidFill>
                <a:latin typeface="Malgun Gothic"/>
              </a:defRPr>
            </a:pPr>
            <a:r>
              <a:t>- 배치에 Edit-only 속성4개: 검토 상태(String), 보류 사유(String), 판정자(String), 판정 시각(Timestamp).</a:t>
            </a:r>
          </a:p>
          <a:p>
            <a:pPr algn="l">
              <a:lnSpc>
                <a:spcPct val="112000"/>
              </a:lnSpc>
              <a:spcBef>
                <a:spcPts val="0"/>
              </a:spcBef>
              <a:spcAft>
                <a:spcPts val="0"/>
              </a:spcAft>
              <a:defRPr sz="1500" b="0">
                <a:solidFill>
                  <a:srgbClr val="4C6258"/>
                </a:solidFill>
                <a:latin typeface="Malgun Gothic"/>
              </a:defRPr>
            </a:pPr>
            <a:r>
              <a:t>- 배치의 편집 허용과 현재 사용자의 실행 권한을 각각 확인한다.</a:t>
            </a:r>
          </a:p>
          <a:p>
            <a:pPr algn="l">
              <a:lnSpc>
                <a:spcPct val="112000"/>
              </a:lnSpc>
              <a:spcBef>
                <a:spcPts val="0"/>
              </a:spcBef>
              <a:spcAft>
                <a:spcPts val="0"/>
              </a:spcAft>
              <a:defRPr sz="1500" b="0">
                <a:solidFill>
                  <a:srgbClr val="4C6258"/>
                </a:solidFill>
                <a:latin typeface="Malgun Gothic"/>
              </a:defRPr>
            </a:pPr>
            <a:r>
              <a:t>- 액션 이름: 출하 검토 기록. 기존 배치를 수정하는 Modify object 규칙을 사용한다.</a:t>
            </a:r>
          </a:p>
          <a:p>
            <a:pPr algn="l">
              <a:lnSpc>
                <a:spcPct val="112000"/>
              </a:lnSpc>
              <a:spcBef>
                <a:spcPts val="0"/>
              </a:spcBef>
              <a:spcAft>
                <a:spcPts val="0"/>
              </a:spcAft>
              <a:defRPr sz="1500" b="0">
                <a:solidFill>
                  <a:srgbClr val="4C6258"/>
                </a:solidFill>
                <a:latin typeface="Malgun Gothic"/>
              </a:defRPr>
            </a:pPr>
            <a:r>
              <a:t>- 입력: 대상 배치1개, 검토 상태(검토중/보류/승인), 보류 사유.</a:t>
            </a:r>
          </a:p>
          <a:p>
            <a:pPr algn="l">
              <a:lnSpc>
                <a:spcPct val="112000"/>
              </a:lnSpc>
              <a:spcBef>
                <a:spcPts val="0"/>
              </a:spcBef>
              <a:spcAft>
                <a:spcPts val="0"/>
              </a:spcAft>
              <a:defRPr sz="1500" b="0">
                <a:solidFill>
                  <a:srgbClr val="4C6258"/>
                </a:solidFill>
                <a:latin typeface="Malgun Gothic"/>
              </a:defRPr>
            </a:pPr>
            <a:r>
              <a:t>- 검토 상태는 필수. 보류 사유는 보류를 선택한 때만 필수.</a:t>
            </a:r>
          </a:p>
          <a:p>
            <a:pPr algn="l">
              <a:lnSpc>
                <a:spcPct val="112000"/>
              </a:lnSpc>
              <a:spcBef>
                <a:spcPts val="0"/>
              </a:spcBef>
              <a:spcAft>
                <a:spcPts val="0"/>
              </a:spcAft>
              <a:defRPr sz="1500" b="0">
                <a:solidFill>
                  <a:srgbClr val="4C6258"/>
                </a:solidFill>
                <a:latin typeface="Malgun Gothic"/>
              </a:defRPr>
            </a:pPr>
            <a:r>
              <a:t>- 입력한 상태·사유를 배치에 저장하고 판정자=Current User, 판정 시각=Current Time을 기록한다.</a:t>
            </a:r>
          </a:p>
          <a:p>
            <a:pPr algn="l">
              <a:lnSpc>
                <a:spcPct val="112000"/>
              </a:lnSpc>
              <a:spcBef>
                <a:spcPts val="0"/>
              </a:spcBef>
              <a:spcAft>
                <a:spcPts val="0"/>
              </a:spcAft>
              <a:defRPr sz="1500" b="0">
                <a:solidFill>
                  <a:srgbClr val="4C6258"/>
                </a:solidFill>
                <a:latin typeface="Malgun Gothic"/>
              </a:defRPr>
            </a:pPr>
            <a:r>
              <a:t>- 중복 보류 금지, 역할별 승인, 전체 변경 이력 관리는 후속 실습으로 남긴다.</a:t>
            </a:r>
          </a:p>
        </p:txBody>
      </p:sp>
      <p:sp>
        <p:nvSpPr>
          <p:cNvPr id="7" name="TextBox 6"/>
          <p:cNvSpPr txBox="1"/>
          <p:nvPr/>
        </p:nvSpPr>
        <p:spPr>
          <a:xfrm>
            <a:off x="502920" y="4811141"/>
            <a:ext cx="11183112" cy="15019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[진행과 작업 범위]</a:t>
            </a:r>
          </a:p>
          <a:p>
            <a:pPr algn="l">
              <a:lnSpc>
                <a:spcPct val="112000"/>
              </a:lnSpc>
              <a:spcBef>
                <a:spcPts val="0"/>
              </a:spcBef>
              <a:spcAft>
                <a:spcPts val="0"/>
              </a:spcAft>
              <a:defRPr sz="1500" b="0">
                <a:solidFill>
                  <a:srgbClr val="4C6258"/>
                </a:solidFill>
                <a:latin typeface="Malgun Gothic"/>
              </a:defRPr>
            </a:pPr>
            <a:r>
              <a:t>현재 환경과 자산을 조사한 뒤, 짧게 구현 계획을 설명하고 가능한 구현을 진행해라.</a:t>
            </a:r>
          </a:p>
          <a:p>
            <a:pPr algn="l">
              <a:lnSpc>
                <a:spcPct val="112000"/>
              </a:lnSpc>
              <a:spcBef>
                <a:spcPts val="0"/>
              </a:spcBef>
              <a:spcAft>
                <a:spcPts val="0"/>
              </a:spcAft>
              <a:defRPr sz="1500" b="0">
                <a:solidFill>
                  <a:srgbClr val="4C6258"/>
                </a:solidFill>
                <a:latin typeface="Malgun Gothic"/>
              </a:defRPr>
            </a:pPr>
            <a:r>
              <a:t>프로젝트·브랜치·입력 Dataset을 특정할 수 없으면 그 정보만 먼저 질문해라.</a:t>
            </a:r>
          </a:p>
          <a:p>
            <a:pPr algn="l">
              <a:lnSpc>
                <a:spcPct val="112000"/>
              </a:lnSpc>
              <a:spcBef>
                <a:spcPts val="0"/>
              </a:spcBef>
              <a:spcAft>
                <a:spcPts val="0"/>
              </a:spcAft>
              <a:defRPr sz="1500" b="0">
                <a:solidFill>
                  <a:srgbClr val="4C6258"/>
                </a:solidFill>
                <a:latin typeface="Malgun Gothic"/>
              </a:defRPr>
            </a:pPr>
            <a:r>
              <a:t>선택한 실습 브랜치에서 생성·설정·저장과 파이프라인 빌드를 진행한다.</a:t>
            </a:r>
          </a:p>
          <a:p>
            <a:pPr algn="l">
              <a:lnSpc>
                <a:spcPct val="112000"/>
              </a:lnSpc>
              <a:spcBef>
                <a:spcPts val="0"/>
              </a:spcBef>
              <a:spcAft>
                <a:spcPts val="0"/>
              </a:spcAft>
              <a:defRPr sz="1500" b="0">
                <a:solidFill>
                  <a:srgbClr val="4C6258"/>
                </a:solidFill>
                <a:latin typeface="Malgun Gothic"/>
              </a:defRPr>
            </a:pPr>
            <a:r>
              <a:t>관련 없는 자산을 수정·삭제하지 말고 Main 병합이나 외부 시스템 호출은 하지 마라.</a:t>
            </a:r>
          </a:p>
          <a:p>
            <a:pPr algn="l">
              <a:lnSpc>
                <a:spcPct val="112000"/>
              </a:lnSpc>
              <a:spcBef>
                <a:spcPts val="0"/>
              </a:spcBef>
              <a:spcAft>
                <a:spcPts val="0"/>
              </a:spcAft>
              <a:defRPr sz="1500" b="0">
                <a:solidFill>
                  <a:srgbClr val="4C6258"/>
                </a:solidFill>
                <a:latin typeface="Malgun Gothic"/>
              </a:defRPr>
            </a:pPr>
            <a:r>
              <a:t>실제 객체에 검토 결과를 저장하는 Submit은 이 요청에 포함하지 않는다. Test run과 구분해라.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AI에게 구현 맡기기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31</a:t>
            </a:r>
          </a:p>
        </p:txBody>
      </p:sp>
      <p:sp>
        <p:nvSpPr>
          <p:cNvPr id="6" name="TextBox 5"/>
          <p:cNvSpPr txBox="1"/>
          <p:nvPr/>
        </p:nvSpPr>
        <p:spPr>
          <a:xfrm>
            <a:off x="502920" y="1496060"/>
            <a:ext cx="11183112" cy="17400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[구현 결과 보고]</a:t>
            </a:r>
          </a:p>
          <a:p>
            <a:pPr algn="l">
              <a:lnSpc>
                <a:spcPct val="112000"/>
              </a:lnSpc>
              <a:spcBef>
                <a:spcPts val="0"/>
              </a:spcBef>
              <a:spcAft>
                <a:spcPts val="0"/>
              </a:spcAft>
              <a:defRPr sz="1500" b="0">
                <a:solidFill>
                  <a:srgbClr val="4C6258"/>
                </a:solidFill>
                <a:latin typeface="Malgun Gothic"/>
              </a:defRPr>
            </a:pPr>
            <a:r>
              <a:t>1. 만든 자산과 재사용한 자산: 이름, 종류, 링크, 브랜치.</a:t>
            </a:r>
          </a:p>
          <a:p>
            <a:pPr algn="l">
              <a:lnSpc>
                <a:spcPct val="112000"/>
              </a:lnSpc>
              <a:spcBef>
                <a:spcPts val="0"/>
              </a:spcBef>
              <a:spcAft>
                <a:spcPts val="0"/>
              </a:spcAft>
              <a:defRPr sz="1500" b="0">
                <a:solidFill>
                  <a:srgbClr val="4C6258"/>
                </a:solidFill>
                <a:latin typeface="Malgun Gothic"/>
              </a:defRPr>
            </a:pPr>
            <a:r>
              <a:t>2. 설정 요약: 데이터 소스, 기본키, 속성 타입, 관계 키, 액션 입력과 변경 결과.</a:t>
            </a:r>
          </a:p>
          <a:p>
            <a:pPr algn="l">
              <a:lnSpc>
                <a:spcPct val="112000"/>
              </a:lnSpc>
              <a:spcBef>
                <a:spcPts val="0"/>
              </a:spcBef>
              <a:spcAft>
                <a:spcPts val="0"/>
              </a:spcAft>
              <a:defRPr sz="1500" b="0">
                <a:solidFill>
                  <a:srgbClr val="4C6258"/>
                </a:solidFill>
                <a:latin typeface="Malgun Gothic"/>
              </a:defRPr>
            </a:pPr>
            <a:r>
              <a:t>3. 실제 확인한 결과: 출력 행 수·키 고유성, 객체 조회, 연결 검사, 필수 입력 조건.</a:t>
            </a:r>
          </a:p>
          <a:p>
            <a:pPr algn="l">
              <a:lnSpc>
                <a:spcPct val="112000"/>
              </a:lnSpc>
              <a:spcBef>
                <a:spcPts val="0"/>
              </a:spcBef>
              <a:spcAft>
                <a:spcPts val="0"/>
              </a:spcAft>
              <a:defRPr sz="1500" b="0">
                <a:solidFill>
                  <a:srgbClr val="4C6258"/>
                </a:solidFill>
                <a:latin typeface="Malgun Gothic"/>
              </a:defRPr>
            </a:pPr>
            <a:r>
              <a:t>4. 가능하면 Test run으로 변경 예정 값을 확인하고 실제 저장 여부와 구분해라.</a:t>
            </a:r>
          </a:p>
          <a:p>
            <a:pPr algn="l">
              <a:lnSpc>
                <a:spcPct val="112000"/>
              </a:lnSpc>
              <a:spcBef>
                <a:spcPts val="0"/>
              </a:spcBef>
              <a:spcAft>
                <a:spcPts val="0"/>
              </a:spcAft>
              <a:defRPr sz="1500" b="0">
                <a:solidFill>
                  <a:srgbClr val="4C6258"/>
                </a:solidFill>
                <a:latin typeface="Malgun Gothic"/>
              </a:defRPr>
            </a:pPr>
            <a:r>
              <a:t>5. 완료한 것, 오류로 막힌 것, 아직 검증하지 않은 것을 나눠 보고해라.</a:t>
            </a:r>
          </a:p>
          <a:p>
            <a:pPr algn="l">
              <a:lnSpc>
                <a:spcPct val="112000"/>
              </a:lnSpc>
              <a:spcBef>
                <a:spcPts val="0"/>
              </a:spcBef>
              <a:spcAft>
                <a:spcPts val="0"/>
              </a:spcAft>
              <a:defRPr sz="1500" b="0">
                <a:solidFill>
                  <a:srgbClr val="4C6258"/>
                </a:solidFill>
                <a:latin typeface="Malgun Gothic"/>
              </a:defRPr>
            </a:pPr>
            <a:r>
              <a:t>만들지 못한 것을 제안만 하고 완료했다고 말하지 마라.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직접 실습 안내받기 · 프롬프트 전문</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32</a:t>
            </a:r>
          </a:p>
        </p:txBody>
      </p:sp>
      <p:sp>
        <p:nvSpPr>
          <p:cNvPr id="6" name="TextBox 5"/>
          <p:cNvSpPr txBox="1"/>
          <p:nvPr/>
        </p:nvSpPr>
        <p:spPr>
          <a:xfrm>
            <a:off x="502920" y="1496060"/>
            <a:ext cx="11183112"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나는 Foundry 초보자이며 직접 클릭하고 입력하면서 Ontology Manager를 배우고 싶다.</a:t>
            </a:r>
          </a:p>
          <a:p>
            <a:pPr algn="l">
              <a:lnSpc>
                <a:spcPct val="112000"/>
              </a:lnSpc>
              <a:spcBef>
                <a:spcPts val="0"/>
              </a:spcBef>
              <a:spcAft>
                <a:spcPts val="0"/>
              </a:spcAft>
              <a:defRPr sz="1500" b="0">
                <a:solidFill>
                  <a:srgbClr val="4C6258"/>
                </a:solidFill>
                <a:latin typeface="Malgun Gothic"/>
              </a:defRPr>
            </a:pPr>
            <a:r>
              <a:t>너는 내가 실습할 수 있도록 안내하는 튜터 역할을 해라.</a:t>
            </a:r>
          </a:p>
          <a:p>
            <a:pPr algn="l">
              <a:lnSpc>
                <a:spcPct val="112000"/>
              </a:lnSpc>
              <a:spcBef>
                <a:spcPts val="0"/>
              </a:spcBef>
              <a:spcAft>
                <a:spcPts val="0"/>
              </a:spcAft>
              <a:defRPr sz="1500" b="0">
                <a:solidFill>
                  <a:srgbClr val="4C6258"/>
                </a:solidFill>
                <a:latin typeface="Malgun Gothic"/>
              </a:defRPr>
            </a:pPr>
            <a:r>
              <a:t>내가 별도로 요청하지 않는 한 대신 자산을 생성·수정하거나 액션을 제출하지 마라.</a:t>
            </a:r>
          </a:p>
        </p:txBody>
      </p:sp>
      <p:sp>
        <p:nvSpPr>
          <p:cNvPr id="7" name="TextBox 6"/>
          <p:cNvSpPr txBox="1"/>
          <p:nvPr/>
        </p:nvSpPr>
        <p:spPr>
          <a:xfrm>
            <a:off x="502920" y="2429891"/>
            <a:ext cx="11183112" cy="102565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[업무와 데이터]</a:t>
            </a:r>
          </a:p>
          <a:p>
            <a:pPr algn="l">
              <a:lnSpc>
                <a:spcPct val="112000"/>
              </a:lnSpc>
              <a:spcBef>
                <a:spcPts val="0"/>
              </a:spcBef>
              <a:spcAft>
                <a:spcPts val="0"/>
              </a:spcAft>
              <a:defRPr sz="1500" b="0">
                <a:solidFill>
                  <a:srgbClr val="4C6258"/>
                </a:solidFill>
                <a:latin typeface="Malgun Gothic"/>
              </a:defRPr>
            </a:pPr>
            <a:r>
              <a:t>화장품 제조 배치의 품질검사 결과를 사람이 확인하고, 출하 검토 결과를 기록하는 실습이다.</a:t>
            </a:r>
          </a:p>
          <a:p>
            <a:pPr algn="l">
              <a:lnSpc>
                <a:spcPct val="112000"/>
              </a:lnSpc>
              <a:spcBef>
                <a:spcPts val="0"/>
              </a:spcBef>
              <a:spcAft>
                <a:spcPts val="0"/>
              </a:spcAft>
              <a:defRPr sz="1500" b="0">
                <a:solidFill>
                  <a:srgbClr val="4C6258"/>
                </a:solidFill>
                <a:latin typeface="Malgun Gothic"/>
              </a:defRPr>
            </a:pPr>
            <a:r>
              <a:t>최종 판단은 사람이 하며 검토 상태, 보류 사유, 판정자, 판정 시각을 남긴다.</a:t>
            </a:r>
          </a:p>
          <a:p>
            <a:pPr algn="l">
              <a:lnSpc>
                <a:spcPct val="112000"/>
              </a:lnSpc>
              <a:spcBef>
                <a:spcPts val="0"/>
              </a:spcBef>
              <a:spcAft>
                <a:spcPts val="0"/>
              </a:spcAft>
              <a:defRPr sz="1500" b="0">
                <a:solidFill>
                  <a:srgbClr val="4C6258"/>
                </a:solidFill>
                <a:latin typeface="Malgun Gothic"/>
              </a:defRPr>
            </a:pPr>
            <a:r>
              <a:t>실제 물류 시스템의 출하를 차단하거나 자동 승인하는 기능은 범위에 넣지 않는다.</a:t>
            </a:r>
          </a:p>
        </p:txBody>
      </p:sp>
      <p:sp>
        <p:nvSpPr>
          <p:cNvPr id="8" name="TextBox 7"/>
          <p:cNvSpPr txBox="1"/>
          <p:nvPr/>
        </p:nvSpPr>
        <p:spPr>
          <a:xfrm>
            <a:off x="502920" y="3601847"/>
            <a:ext cx="11183112"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현재 선택한 프로젝트와 작업 브랜치를 먼저 확인하고, 내가 지정하거나 첨부한 Dataset을 사용해라.</a:t>
            </a:r>
          </a:p>
          <a:p>
            <a:pPr algn="l">
              <a:lnSpc>
                <a:spcPct val="112000"/>
              </a:lnSpc>
              <a:spcBef>
                <a:spcPts val="0"/>
              </a:spcBef>
              <a:spcAft>
                <a:spcPts val="0"/>
              </a:spcAft>
              <a:defRPr sz="1500" b="0">
                <a:solidFill>
                  <a:srgbClr val="4C6258"/>
                </a:solidFill>
                <a:latin typeface="Malgun Gothic"/>
              </a:defRPr>
            </a:pPr>
            <a:r>
              <a:t>필요한 원본은 batch_master와 quality_inspection이다. 환경에 있는 실제 이름과 스키마를 확인해라.</a:t>
            </a:r>
          </a:p>
          <a:p>
            <a:pPr algn="l">
              <a:lnSpc>
                <a:spcPct val="112000"/>
              </a:lnSpc>
              <a:spcBef>
                <a:spcPts val="0"/>
              </a:spcBef>
              <a:spcAft>
                <a:spcPts val="0"/>
              </a:spcAft>
              <a:defRPr sz="1500" b="0">
                <a:solidFill>
                  <a:srgbClr val="4C6258"/>
                </a:solidFill>
                <a:latin typeface="Malgun Gothic"/>
              </a:defRPr>
            </a:pPr>
            <a:r>
              <a:t>기존 자산은 이름뿐 아니라 데이터 소스·기본키·브랜치가 같은지 확인한 뒤 재사용해라.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직접 실습 안내받기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33</a:t>
            </a:r>
          </a:p>
        </p:txBody>
      </p:sp>
      <p:sp>
        <p:nvSpPr>
          <p:cNvPr id="6" name="TextBox 5"/>
          <p:cNvSpPr txBox="1"/>
          <p:nvPr/>
        </p:nvSpPr>
        <p:spPr>
          <a:xfrm>
            <a:off x="502920" y="1496060"/>
            <a:ext cx="11183112" cy="22162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로컬 스터디 데이터 점검 결과는 아래와 같다. Foundry에서도 같은지 확인해라.</a:t>
            </a:r>
          </a:p>
          <a:p>
            <a:pPr algn="l">
              <a:lnSpc>
                <a:spcPct val="112000"/>
              </a:lnSpc>
              <a:spcBef>
                <a:spcPts val="0"/>
              </a:spcBef>
              <a:spcAft>
                <a:spcPts val="0"/>
              </a:spcAft>
              <a:defRPr sz="1500" b="0">
                <a:solidFill>
                  <a:srgbClr val="4C6258"/>
                </a:solidFill>
                <a:latin typeface="Malgun Gothic"/>
              </a:defRPr>
            </a:pPr>
            <a:r>
              <a:t>- 배치 30건, 품질검사 60건이며 검사.batch_id로 배치와 연결된다.</a:t>
            </a:r>
          </a:p>
          <a:p>
            <a:pPr algn="l">
              <a:lnSpc>
                <a:spcPct val="112000"/>
              </a:lnSpc>
              <a:spcBef>
                <a:spcPts val="0"/>
              </a:spcBef>
              <a:spcAft>
                <a:spcPts val="0"/>
              </a:spcAft>
              <a:defRPr sz="1500" b="0">
                <a:solidFill>
                  <a:srgbClr val="4C6258"/>
                </a:solidFill>
                <a:latin typeface="Malgun Gothic"/>
              </a:defRPr>
            </a:pPr>
            <a:r>
              <a:t>- 검사 결과는 합격52건·불합격8건이며 불합격은 내용량 항목에 있다.</a:t>
            </a:r>
          </a:p>
          <a:p>
            <a:pPr algn="l">
              <a:lnSpc>
                <a:spcPct val="112000"/>
              </a:lnSpc>
              <a:spcBef>
                <a:spcPts val="0"/>
              </a:spcBef>
              <a:spcAft>
                <a:spcPts val="0"/>
              </a:spcAft>
              <a:defRPr sz="1500" b="0">
                <a:solidFill>
                  <a:srgbClr val="4C6258"/>
                </a:solidFill>
                <a:latin typeface="Malgun Gothic"/>
              </a:defRPr>
            </a:pPr>
            <a:r>
              <a:t>- 측정값만으로 공통 합불 기준을 확정할 수 없다.</a:t>
            </a:r>
          </a:p>
          <a:p>
            <a:pPr algn="l">
              <a:lnSpc>
                <a:spcPct val="112000"/>
              </a:lnSpc>
              <a:spcBef>
                <a:spcPts val="0"/>
              </a:spcBef>
              <a:spcAft>
                <a:spcPts val="0"/>
              </a:spcAft>
              <a:defRPr sz="1500" b="0">
                <a:solidFill>
                  <a:srgbClr val="4C6258"/>
                </a:solidFill>
                <a:latin typeface="Malgun Gothic"/>
              </a:defRPr>
            </a:pPr>
            <a:r>
              <a:t>- 불량 유형이 없음인데 불량 수량이 양수인 행이18건 있다.</a:t>
            </a:r>
          </a:p>
          <a:p>
            <a:pPr algn="l">
              <a:lnSpc>
                <a:spcPct val="112000"/>
              </a:lnSpc>
              <a:spcBef>
                <a:spcPts val="0"/>
              </a:spcBef>
              <a:spcAft>
                <a:spcPts val="0"/>
              </a:spcAft>
              <a:defRPr sz="1500" b="0">
                <a:solidFill>
                  <a:srgbClr val="4C6258"/>
                </a:solidFill>
                <a:latin typeface="Malgun Gothic"/>
              </a:defRPr>
            </a:pPr>
            <a:r>
              <a:t>- 일부 문자열 손상과 시간 지표 불일치가 있다.</a:t>
            </a:r>
          </a:p>
          <a:p>
            <a:pPr algn="l">
              <a:lnSpc>
                <a:spcPct val="112000"/>
              </a:lnSpc>
              <a:spcBef>
                <a:spcPts val="0"/>
              </a:spcBef>
              <a:spcAft>
                <a:spcPts val="0"/>
              </a:spcAft>
              <a:defRPr sz="1500" b="0">
                <a:solidFill>
                  <a:srgbClr val="4C6258"/>
                </a:solidFill>
                <a:latin typeface="Malgun Gothic"/>
              </a:defRPr>
            </a:pPr>
            <a:r>
              <a:t>- 설비·센서에는 배치와 직접 연결할 키가 없다.</a:t>
            </a:r>
          </a:p>
          <a:p>
            <a:pPr algn="l">
              <a:lnSpc>
                <a:spcPct val="112000"/>
              </a:lnSpc>
              <a:spcBef>
                <a:spcPts val="0"/>
              </a:spcBef>
              <a:spcAft>
                <a:spcPts val="0"/>
              </a:spcAft>
              <a:defRPr sz="1500" b="0">
                <a:solidFill>
                  <a:srgbClr val="4C6258"/>
                </a:solidFill>
                <a:latin typeface="Malgun Gothic"/>
              </a:defRPr>
            </a:pPr>
            <a:r>
              <a:t>원본을 임의 보정하거나 연결 키를 추측하지 말고, 확인된 사실과 가정을 구분해라.</a:t>
            </a:r>
          </a:p>
          <a:p>
            <a:pPr algn="l">
              <a:lnSpc>
                <a:spcPct val="112000"/>
              </a:lnSpc>
              <a:spcBef>
                <a:spcPts val="0"/>
              </a:spcBef>
              <a:spcAft>
                <a:spcPts val="0"/>
              </a:spcAft>
              <a:defRPr sz="1500" b="0">
                <a:solidFill>
                  <a:srgbClr val="4C6258"/>
                </a:solidFill>
                <a:latin typeface="Malgun Gothic"/>
              </a:defRPr>
            </a:pPr>
            <a:r>
              <a:t>이번에 필요한 값·키·관계부터 확인하고 전체 데이터를 무조건 정제하지 마라.</a:t>
            </a:r>
          </a:p>
        </p:txBody>
      </p:sp>
      <p:sp>
        <p:nvSpPr>
          <p:cNvPr id="7" name="TextBox 6"/>
          <p:cNvSpPr txBox="1"/>
          <p:nvPr/>
        </p:nvSpPr>
        <p:spPr>
          <a:xfrm>
            <a:off x="502920" y="3858641"/>
            <a:ext cx="11183112" cy="197815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[적용할 설계 원칙 — 책의 Chapter 10에서 가져온 관점]</a:t>
            </a:r>
          </a:p>
          <a:p>
            <a:pPr algn="l">
              <a:lnSpc>
                <a:spcPct val="112000"/>
              </a:lnSpc>
              <a:spcBef>
                <a:spcPts val="0"/>
              </a:spcBef>
              <a:spcAft>
                <a:spcPts val="0"/>
              </a:spcAft>
              <a:defRPr sz="1500" b="0">
                <a:solidFill>
                  <a:srgbClr val="4C6258"/>
                </a:solidFill>
                <a:latin typeface="Malgun Gothic"/>
              </a:defRPr>
            </a:pPr>
            <a:r>
              <a:t>1. 액션부터 생각한다. 누가, 어떤 조건에서, 무엇을 입력하고, 실행 후 무엇이 바뀌는지 정한다.</a:t>
            </a:r>
          </a:p>
          <a:p>
            <a:pPr algn="l">
              <a:lnSpc>
                <a:spcPct val="112000"/>
              </a:lnSpc>
              <a:spcBef>
                <a:spcPts val="0"/>
              </a:spcBef>
              <a:spcAft>
                <a:spcPts val="0"/>
              </a:spcAft>
              <a:defRPr sz="1500" b="0">
                <a:solidFill>
                  <a:srgbClr val="4C6258"/>
                </a:solidFill>
                <a:latin typeface="Malgun Gothic"/>
              </a:defRPr>
            </a:pPr>
            <a:r>
              <a:t>2. Dataset마다 객체를 만들지 말고, 지금 판단할 대상과 필요한 근거만 객체로 둔다.</a:t>
            </a:r>
          </a:p>
          <a:p>
            <a:pPr algn="l">
              <a:lnSpc>
                <a:spcPct val="112000"/>
              </a:lnSpc>
              <a:spcBef>
                <a:spcPts val="0"/>
              </a:spcBef>
              <a:spcAft>
                <a:spcPts val="0"/>
              </a:spcAft>
              <a:defRPr sz="1500" b="0">
                <a:solidFill>
                  <a:srgbClr val="4C6258"/>
                </a:solidFill>
                <a:latin typeface="Malgun Gothic"/>
              </a:defRPr>
            </a:pPr>
            <a:r>
              <a:t>3. 링크는 판단에 필요한 관계만 연결하고, 각 연결의 이유를 설명한다.</a:t>
            </a:r>
          </a:p>
          <a:p>
            <a:pPr algn="l">
              <a:lnSpc>
                <a:spcPct val="112000"/>
              </a:lnSpc>
              <a:spcBef>
                <a:spcPts val="0"/>
              </a:spcBef>
              <a:spcAft>
                <a:spcPts val="0"/>
              </a:spcAft>
              <a:defRPr sz="1500" b="0">
                <a:solidFill>
                  <a:srgbClr val="4C6258"/>
                </a:solidFill>
                <a:latin typeface="Malgun Gothic"/>
              </a:defRPr>
            </a:pPr>
            <a:r>
              <a:t>4. 원천 검사 사실·계산 결과·사람이 결정한 검토 상태를 구분한다.</a:t>
            </a:r>
          </a:p>
          <a:p>
            <a:pPr algn="l">
              <a:lnSpc>
                <a:spcPct val="112000"/>
              </a:lnSpc>
              <a:spcBef>
                <a:spcPts val="0"/>
              </a:spcBef>
              <a:spcAft>
                <a:spcPts val="0"/>
              </a:spcAft>
              <a:defRPr sz="1500" b="0">
                <a:solidFill>
                  <a:srgbClr val="4C6258"/>
                </a:solidFill>
                <a:latin typeface="Malgun Gothic"/>
              </a:defRPr>
            </a:pPr>
            <a:r>
              <a:t>5. 판단에는 사유를 남기며, 실행 조건과 자동 실행 트리거를 혼동하지 않는다.</a:t>
            </a:r>
          </a:p>
          <a:p>
            <a:pPr algn="l">
              <a:lnSpc>
                <a:spcPct val="112000"/>
              </a:lnSpc>
              <a:spcBef>
                <a:spcPts val="0"/>
              </a:spcBef>
              <a:spcAft>
                <a:spcPts val="0"/>
              </a:spcAft>
              <a:defRPr sz="1500" b="0">
                <a:solidFill>
                  <a:srgbClr val="4C6258"/>
                </a:solidFill>
                <a:latin typeface="Malgun Gothic"/>
              </a:defRPr>
            </a:pPr>
            <a:r>
              <a:t>6. 과거 검사와 현재 검토 상태를 구분한다. 판정 시각 기록만으로 전체 이력이 보존된다고 설명하지 않는다.</a:t>
            </a:r>
          </a:p>
          <a:p>
            <a:pPr algn="l">
              <a:lnSpc>
                <a:spcPct val="112000"/>
              </a:lnSpc>
              <a:spcBef>
                <a:spcPts val="0"/>
              </a:spcBef>
              <a:spcAft>
                <a:spcPts val="0"/>
              </a:spcAft>
              <a:defRPr sz="1500" b="0">
                <a:solidFill>
                  <a:srgbClr val="4C6258"/>
                </a:solidFill>
                <a:latin typeface="Malgun Gothic"/>
              </a:defRPr>
            </a:pPr>
            <a:r>
              <a:t>7. 임계치와 승인 정책을 근거 없이 확정하지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직접 실습 안내받기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34</a:t>
            </a:r>
          </a:p>
        </p:txBody>
      </p:sp>
      <p:sp>
        <p:nvSpPr>
          <p:cNvPr id="6" name="TextBox 5"/>
          <p:cNvSpPr txBox="1"/>
          <p:nvPr/>
        </p:nvSpPr>
        <p:spPr>
          <a:xfrm>
            <a:off x="502920" y="1496060"/>
            <a:ext cx="11183112" cy="316877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[이번 실습의 목표 구조]</a:t>
            </a:r>
          </a:p>
          <a:p>
            <a:pPr algn="l">
              <a:lnSpc>
                <a:spcPct val="112000"/>
              </a:lnSpc>
              <a:spcBef>
                <a:spcPts val="0"/>
              </a:spcBef>
              <a:spcAft>
                <a:spcPts val="0"/>
              </a:spcAft>
              <a:defRPr sz="1500" b="0">
                <a:solidFill>
                  <a:srgbClr val="4C6258"/>
                </a:solidFill>
                <a:latin typeface="Malgun Gothic"/>
              </a:defRPr>
            </a:pPr>
            <a:r>
              <a:t>- 배치출하검토 Object Type: batch_master 사용, Primary key와 Title은 batch_id.</a:t>
            </a:r>
          </a:p>
          <a:p>
            <a:pPr algn="l">
              <a:lnSpc>
                <a:spcPct val="112000"/>
              </a:lnSpc>
              <a:spcBef>
                <a:spcPts val="0"/>
              </a:spcBef>
              <a:spcAft>
                <a:spcPts val="0"/>
              </a:spcAft>
              <a:defRPr sz="1500" b="0">
                <a:solidFill>
                  <a:srgbClr val="4C6258"/>
                </a:solidFill>
                <a:latin typeface="Malgun Gothic"/>
              </a:defRPr>
            </a:pPr>
            <a:r>
              <a:t>- 품질검사 Object Type: inspection_id를 포함한 출력 Dataset 사용, Primary key와 Title은 inspection_id.</a:t>
            </a:r>
          </a:p>
          <a:p>
            <a:pPr algn="l">
              <a:lnSpc>
                <a:spcPct val="112000"/>
              </a:lnSpc>
              <a:spcBef>
                <a:spcPts val="0"/>
              </a:spcBef>
              <a:spcAft>
                <a:spcPts val="0"/>
              </a:spcAft>
              <a:defRPr sz="1500" b="0">
                <a:solidFill>
                  <a:srgbClr val="4C6258"/>
                </a:solidFill>
                <a:latin typeface="Malgun Gothic"/>
              </a:defRPr>
            </a:pPr>
            <a:r>
              <a:t>- inspection_id가 없다면 Pipeline Builder로 batch_id + '::' + test_item을 만든다.</a:t>
            </a:r>
          </a:p>
          <a:p>
            <a:pPr algn="l">
              <a:lnSpc>
                <a:spcPct val="112000"/>
              </a:lnSpc>
              <a:spcBef>
                <a:spcPts val="0"/>
              </a:spcBef>
              <a:spcAft>
                <a:spcPts val="0"/>
              </a:spcAft>
              <a:defRPr sz="1500" b="0">
                <a:solidFill>
                  <a:srgbClr val="4C6258"/>
                </a:solidFill>
                <a:latin typeface="Malgun Gothic"/>
              </a:defRPr>
            </a:pPr>
            <a:r>
              <a:t>  현재 데이터에서 고유성을 확인하고, 중복이면 회차·실제 검사 ID를 확인한 뒤 설계를 정한다.</a:t>
            </a:r>
          </a:p>
          <a:p>
            <a:pPr algn="l">
              <a:lnSpc>
                <a:spcPct val="112000"/>
              </a:lnSpc>
              <a:spcBef>
                <a:spcPts val="0"/>
              </a:spcBef>
              <a:spcAft>
                <a:spcPts val="0"/>
              </a:spcAft>
              <a:defRPr sz="1500" b="0">
                <a:solidFill>
                  <a:srgbClr val="4C6258"/>
                </a:solidFill>
                <a:latin typeface="Malgun Gothic"/>
              </a:defRPr>
            </a:pPr>
            <a:r>
              <a:t>- 배치1 : 검사N 링크: 품질검사의 batch_id → 배치출하검토의 batch_id.</a:t>
            </a:r>
          </a:p>
          <a:p>
            <a:pPr algn="l">
              <a:lnSpc>
                <a:spcPct val="112000"/>
              </a:lnSpc>
              <a:spcBef>
                <a:spcPts val="0"/>
              </a:spcBef>
              <a:spcAft>
                <a:spcPts val="0"/>
              </a:spcAft>
              <a:defRPr sz="1500" b="0">
                <a:solidFill>
                  <a:srgbClr val="4C6258"/>
                </a:solidFill>
                <a:latin typeface="Malgun Gothic"/>
              </a:defRPr>
            </a:pPr>
            <a:r>
              <a:t>- 배치에 Edit-only 속성4개: 검토 상태(String), 보류 사유(String), 판정자(String), 판정 시각(Timestamp).</a:t>
            </a:r>
          </a:p>
          <a:p>
            <a:pPr algn="l">
              <a:lnSpc>
                <a:spcPct val="112000"/>
              </a:lnSpc>
              <a:spcBef>
                <a:spcPts val="0"/>
              </a:spcBef>
              <a:spcAft>
                <a:spcPts val="0"/>
              </a:spcAft>
              <a:defRPr sz="1500" b="0">
                <a:solidFill>
                  <a:srgbClr val="4C6258"/>
                </a:solidFill>
                <a:latin typeface="Malgun Gothic"/>
              </a:defRPr>
            </a:pPr>
            <a:r>
              <a:t>- 배치의 편집 허용과 현재 사용자의 실행 권한을 각각 확인한다.</a:t>
            </a:r>
          </a:p>
          <a:p>
            <a:pPr algn="l">
              <a:lnSpc>
                <a:spcPct val="112000"/>
              </a:lnSpc>
              <a:spcBef>
                <a:spcPts val="0"/>
              </a:spcBef>
              <a:spcAft>
                <a:spcPts val="0"/>
              </a:spcAft>
              <a:defRPr sz="1500" b="0">
                <a:solidFill>
                  <a:srgbClr val="4C6258"/>
                </a:solidFill>
                <a:latin typeface="Malgun Gothic"/>
              </a:defRPr>
            </a:pPr>
            <a:r>
              <a:t>- 액션 이름: 출하 검토 기록. 기존 배치를 수정하는 Modify object 규칙을 사용한다.</a:t>
            </a:r>
          </a:p>
          <a:p>
            <a:pPr algn="l">
              <a:lnSpc>
                <a:spcPct val="112000"/>
              </a:lnSpc>
              <a:spcBef>
                <a:spcPts val="0"/>
              </a:spcBef>
              <a:spcAft>
                <a:spcPts val="0"/>
              </a:spcAft>
              <a:defRPr sz="1500" b="0">
                <a:solidFill>
                  <a:srgbClr val="4C6258"/>
                </a:solidFill>
                <a:latin typeface="Malgun Gothic"/>
              </a:defRPr>
            </a:pPr>
            <a:r>
              <a:t>- 입력: 대상 배치1개, 검토 상태(검토중/보류/승인), 보류 사유.</a:t>
            </a:r>
          </a:p>
          <a:p>
            <a:pPr algn="l">
              <a:lnSpc>
                <a:spcPct val="112000"/>
              </a:lnSpc>
              <a:spcBef>
                <a:spcPts val="0"/>
              </a:spcBef>
              <a:spcAft>
                <a:spcPts val="0"/>
              </a:spcAft>
              <a:defRPr sz="1500" b="0">
                <a:solidFill>
                  <a:srgbClr val="4C6258"/>
                </a:solidFill>
                <a:latin typeface="Malgun Gothic"/>
              </a:defRPr>
            </a:pPr>
            <a:r>
              <a:t>- 검토 상태는 필수. 보류 사유는 보류를 선택한 때만 필수.</a:t>
            </a:r>
          </a:p>
          <a:p>
            <a:pPr algn="l">
              <a:lnSpc>
                <a:spcPct val="112000"/>
              </a:lnSpc>
              <a:spcBef>
                <a:spcPts val="0"/>
              </a:spcBef>
              <a:spcAft>
                <a:spcPts val="0"/>
              </a:spcAft>
              <a:defRPr sz="1500" b="0">
                <a:solidFill>
                  <a:srgbClr val="4C6258"/>
                </a:solidFill>
                <a:latin typeface="Malgun Gothic"/>
              </a:defRPr>
            </a:pPr>
            <a:r>
              <a:t>- 입력한 상태·사유를 배치에 저장하고 판정자=Current User, 판정 시각=Current Time을 기록한다.</a:t>
            </a:r>
          </a:p>
          <a:p>
            <a:pPr algn="l">
              <a:lnSpc>
                <a:spcPct val="112000"/>
              </a:lnSpc>
              <a:spcBef>
                <a:spcPts val="0"/>
              </a:spcBef>
              <a:spcAft>
                <a:spcPts val="0"/>
              </a:spcAft>
              <a:defRPr sz="1500" b="0">
                <a:solidFill>
                  <a:srgbClr val="4C6258"/>
                </a:solidFill>
                <a:latin typeface="Malgun Gothic"/>
              </a:defRPr>
            </a:pPr>
            <a:r>
              <a:t>- 중복 보류 금지, 역할별 승인, 전체 변경 이력 관리는 후속 실습으로 남긴다.</a:t>
            </a:r>
          </a:p>
        </p:txBody>
      </p:sp>
      <p:sp>
        <p:nvSpPr>
          <p:cNvPr id="7" name="TextBox 6"/>
          <p:cNvSpPr txBox="1"/>
          <p:nvPr/>
        </p:nvSpPr>
        <p:spPr>
          <a:xfrm>
            <a:off x="502920" y="4811141"/>
            <a:ext cx="11183112" cy="787527"/>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[안내 순서]</a:t>
            </a:r>
          </a:p>
          <a:p>
            <a:pPr algn="l">
              <a:lnSpc>
                <a:spcPct val="112000"/>
              </a:lnSpc>
              <a:spcBef>
                <a:spcPts val="0"/>
              </a:spcBef>
              <a:spcAft>
                <a:spcPts val="0"/>
              </a:spcAft>
              <a:defRPr sz="1500" b="0">
                <a:solidFill>
                  <a:srgbClr val="4C6258"/>
                </a:solidFill>
                <a:latin typeface="Malgun Gothic"/>
              </a:defRPr>
            </a:pPr>
            <a:r>
              <a:t>브랜치·원본 확인 → Pipeline Builder → Object Type → Property → Link Type</a:t>
            </a:r>
          </a:p>
          <a:p>
            <a:pPr algn="l">
              <a:lnSpc>
                <a:spcPct val="112000"/>
              </a:lnSpc>
              <a:spcBef>
                <a:spcPts val="0"/>
              </a:spcBef>
              <a:spcAft>
                <a:spcPts val="0"/>
              </a:spcAft>
              <a:defRPr sz="1500" b="0">
                <a:solidFill>
                  <a:srgbClr val="4C6258"/>
                </a:solidFill>
                <a:latin typeface="Malgun Gothic"/>
              </a:defRPr>
            </a:pPr>
            <a:r>
              <a:t>→ Action Type → 입력 조건 → 저장·조회·Test run → 실제 실행과 결과 확인 순서로 안내해라.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274320"/>
            <a:ext cx="1106424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PROMPT / 복사해서 사용할 재구성본</a:t>
            </a:r>
          </a:p>
        </p:txBody>
      </p:sp>
      <p:sp>
        <p:nvSpPr>
          <p:cNvPr id="3" name="TextBox 2"/>
          <p:cNvSpPr txBox="1"/>
          <p:nvPr/>
        </p:nvSpPr>
        <p:spPr>
          <a:xfrm>
            <a:off x="502920" y="777240"/>
            <a:ext cx="11064240" cy="517652"/>
          </a:xfrm>
          <a:prstGeom prst="rect">
            <a:avLst/>
          </a:prstGeom>
          <a:noFill/>
        </p:spPr>
        <p:txBody>
          <a:bodyPr wrap="none" lIns="0" rIns="0" tIns="0" bIns="0">
            <a:noAutofit/>
          </a:bodyPr>
          <a:lstStyle/>
          <a:p>
            <a:pPr algn="l">
              <a:lnSpc>
                <a:spcPct val="112000"/>
              </a:lnSpc>
              <a:spcBef>
                <a:spcPts val="0"/>
              </a:spcBef>
              <a:spcAft>
                <a:spcPts val="0"/>
              </a:spcAft>
              <a:defRPr sz="2800" b="1">
                <a:solidFill>
                  <a:srgbClr val="182B25"/>
                </a:solidFill>
                <a:latin typeface="Malgun Gothic"/>
              </a:defRPr>
            </a:pPr>
            <a:r>
              <a:t>직접 실습 안내받기 · 프롬프트 전문 · 계속</a:t>
            </a:r>
          </a:p>
        </p:txBody>
      </p:sp>
      <p:sp>
        <p:nvSpPr>
          <p:cNvPr id="4" name="TextBox 3"/>
          <p:cNvSpPr txBox="1"/>
          <p:nvPr/>
        </p:nvSpPr>
        <p:spPr>
          <a:xfrm>
            <a:off x="502920" y="6492240"/>
            <a:ext cx="7315200" cy="182880"/>
          </a:xfrm>
          <a:prstGeom prst="rect">
            <a:avLst/>
          </a:prstGeom>
          <a:noFill/>
        </p:spPr>
        <p:txBody>
          <a:bodyPr wrap="none" lIns="0" rIns="0" tIns="0" bIns="0">
            <a:noAutofit/>
          </a:bodyPr>
          <a:lstStyle/>
          <a:p>
            <a:pPr algn="l">
              <a:lnSpc>
                <a:spcPct val="112000"/>
              </a:lnSpc>
              <a:spcBef>
                <a:spcPts val="0"/>
              </a:spcBef>
              <a:spcAft>
                <a:spcPts val="0"/>
              </a:spcAft>
              <a:defRPr sz="900" b="0">
                <a:solidFill>
                  <a:srgbClr val="4C6258"/>
                </a:solidFill>
                <a:latin typeface="Malgun Gothic"/>
              </a:defRPr>
            </a:pPr>
            <a:r>
              <a:t>공개용 예시 · 실제 원본 데이터 미포함</a:t>
            </a:r>
          </a:p>
        </p:txBody>
      </p:sp>
      <p:sp>
        <p:nvSpPr>
          <p:cNvPr id="5" name="TextBox 4"/>
          <p:cNvSpPr txBox="1"/>
          <p:nvPr/>
        </p:nvSpPr>
        <p:spPr>
          <a:xfrm>
            <a:off x="11018520" y="6437376"/>
            <a:ext cx="640080" cy="274320"/>
          </a:xfrm>
          <a:prstGeom prst="rect">
            <a:avLst/>
          </a:prstGeom>
          <a:noFill/>
        </p:spPr>
        <p:txBody>
          <a:bodyPr wrap="none" lIns="0" rIns="0" tIns="0" bIns="0">
            <a:noAutofit/>
          </a:bodyPr>
          <a:lstStyle/>
          <a:p>
            <a:pPr algn="l">
              <a:lnSpc>
                <a:spcPct val="112000"/>
              </a:lnSpc>
              <a:spcBef>
                <a:spcPts val="0"/>
              </a:spcBef>
              <a:spcAft>
                <a:spcPts val="0"/>
              </a:spcAft>
              <a:defRPr sz="1100" b="1">
                <a:solidFill>
                  <a:srgbClr val="17694E"/>
                </a:solidFill>
                <a:latin typeface="Malgun Gothic"/>
              </a:defRPr>
            </a:pPr>
            <a:r>
              <a:t>35</a:t>
            </a:r>
          </a:p>
        </p:txBody>
      </p:sp>
      <p:sp>
        <p:nvSpPr>
          <p:cNvPr id="6" name="TextBox 5"/>
          <p:cNvSpPr txBox="1"/>
          <p:nvPr/>
        </p:nvSpPr>
        <p:spPr>
          <a:xfrm>
            <a:off x="502920" y="1496060"/>
            <a:ext cx="11183112" cy="2454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[매 단계의 설명 방식]</a:t>
            </a:r>
          </a:p>
          <a:p>
            <a:pPr algn="l">
              <a:lnSpc>
                <a:spcPct val="112000"/>
              </a:lnSpc>
              <a:spcBef>
                <a:spcPts val="0"/>
              </a:spcBef>
              <a:spcAft>
                <a:spcPts val="0"/>
              </a:spcAft>
              <a:defRPr sz="1500" b="0">
                <a:solidFill>
                  <a:srgbClr val="4C6258"/>
                </a:solidFill>
                <a:latin typeface="Malgun Gothic"/>
              </a:defRPr>
            </a:pPr>
            <a:r>
              <a:t>- 지금 무엇을 하는지와 왜 필요한지 쉬운 말로 설명해라.</a:t>
            </a:r>
          </a:p>
          <a:p>
            <a:pPr algn="l">
              <a:lnSpc>
                <a:spcPct val="112000"/>
              </a:lnSpc>
              <a:spcBef>
                <a:spcPts val="0"/>
              </a:spcBef>
              <a:spcAft>
                <a:spcPts val="0"/>
              </a:spcAft>
              <a:defRPr sz="1500" b="0">
                <a:solidFill>
                  <a:srgbClr val="4C6258"/>
                </a:solidFill>
                <a:latin typeface="Malgun Gothic"/>
              </a:defRPr>
            </a:pPr>
            <a:r>
              <a:t>- 현재 화면에서 어디를 클릭하는지 정확히 말해라.</a:t>
            </a:r>
          </a:p>
          <a:p>
            <a:pPr algn="l">
              <a:lnSpc>
                <a:spcPct val="112000"/>
              </a:lnSpc>
              <a:spcBef>
                <a:spcPts val="0"/>
              </a:spcBef>
              <a:spcAft>
                <a:spcPts val="0"/>
              </a:spcAft>
              <a:defRPr sz="1500" b="0">
                <a:solidFill>
                  <a:srgbClr val="4C6258"/>
                </a:solidFill>
                <a:latin typeface="Malgun Gothic"/>
              </a:defRPr>
            </a:pPr>
            <a:r>
              <a:t>- 이름, Description, API 이름, 타입, 컬럼, 기본키, Title 등 입력·선택할 값을 빠뜨리지 마라.</a:t>
            </a:r>
          </a:p>
          <a:p>
            <a:pPr algn="l">
              <a:lnSpc>
                <a:spcPct val="112000"/>
              </a:lnSpc>
              <a:spcBef>
                <a:spcPts val="0"/>
              </a:spcBef>
              <a:spcAft>
                <a:spcPts val="0"/>
              </a:spcAft>
              <a:defRPr sz="1500" b="0">
                <a:solidFill>
                  <a:srgbClr val="4C6258"/>
                </a:solidFill>
                <a:latin typeface="Malgun Gothic"/>
              </a:defRPr>
            </a:pPr>
            <a:r>
              <a:t>- 설정 후 어디서 저장하고 무엇이 보여야 성공인지 알려줘라.</a:t>
            </a:r>
          </a:p>
          <a:p>
            <a:pPr algn="l">
              <a:lnSpc>
                <a:spcPct val="112000"/>
              </a:lnSpc>
              <a:spcBef>
                <a:spcPts val="0"/>
              </a:spcBef>
              <a:spcAft>
                <a:spcPts val="0"/>
              </a:spcAft>
              <a:defRPr sz="1500" b="0">
                <a:solidFill>
                  <a:srgbClr val="4C6258"/>
                </a:solidFill>
                <a:latin typeface="Malgun Gothic"/>
              </a:defRPr>
            </a:pPr>
            <a:r>
              <a:t>- 내가 실행한 결과를 확인한 뒤 다음 단계로 넘어가라.</a:t>
            </a:r>
          </a:p>
          <a:p>
            <a:pPr algn="l">
              <a:lnSpc>
                <a:spcPct val="112000"/>
              </a:lnSpc>
              <a:spcBef>
                <a:spcPts val="0"/>
              </a:spcBef>
              <a:spcAft>
                <a:spcPts val="0"/>
              </a:spcAft>
              <a:defRPr sz="1500" b="0">
                <a:solidFill>
                  <a:srgbClr val="4C6258"/>
                </a:solidFill>
                <a:latin typeface="Malgun Gothic"/>
              </a:defRPr>
            </a:pPr>
            <a:r>
              <a:t>- 화면이 다르면 메뉴 위치를 추측하지 말고 현재 화면을 확인해라.</a:t>
            </a:r>
          </a:p>
          <a:p>
            <a:pPr algn="l">
              <a:lnSpc>
                <a:spcPct val="112000"/>
              </a:lnSpc>
              <a:spcBef>
                <a:spcPts val="0"/>
              </a:spcBef>
              <a:spcAft>
                <a:spcPts val="0"/>
              </a:spcAft>
              <a:defRPr sz="1500" b="0">
                <a:solidFill>
                  <a:srgbClr val="4C6258"/>
                </a:solidFill>
                <a:latin typeface="Malgun Gothic"/>
              </a:defRPr>
            </a:pPr>
            <a:r>
              <a:t>- 오류가 나면 실패한 위치를 찾아 설명하고, 원인이 확인되기 전에 재생성부터 시키지 마라.</a:t>
            </a:r>
          </a:p>
          <a:p>
            <a:pPr algn="l">
              <a:lnSpc>
                <a:spcPct val="112000"/>
              </a:lnSpc>
              <a:spcBef>
                <a:spcPts val="0"/>
              </a:spcBef>
              <a:spcAft>
                <a:spcPts val="0"/>
              </a:spcAft>
              <a:defRPr sz="1500" b="0">
                <a:solidFill>
                  <a:srgbClr val="4C6258"/>
                </a:solidFill>
                <a:latin typeface="Malgun Gothic"/>
              </a:defRPr>
            </a:pPr>
            <a:r>
              <a:t>- 파라미터는 액션의 입력값, 속성은 배치에 정보를 저장하는 칸처럼 용어를 구체적인 예로 풀어라.</a:t>
            </a:r>
          </a:p>
          <a:p>
            <a:pPr algn="l">
              <a:lnSpc>
                <a:spcPct val="112000"/>
              </a:lnSpc>
              <a:spcBef>
                <a:spcPts val="0"/>
              </a:spcBef>
              <a:spcAft>
                <a:spcPts val="0"/>
              </a:spcAft>
              <a:defRPr sz="1500" b="0">
                <a:solidFill>
                  <a:srgbClr val="4C6258"/>
                </a:solidFill>
                <a:latin typeface="Malgun Gothic"/>
              </a:defRPr>
            </a:pPr>
            <a:r>
              <a:t>- Preview에서 폼을 확인하는 것, Test run, 실제 Submit을 구분해라.</a:t>
            </a:r>
          </a:p>
        </p:txBody>
      </p:sp>
      <p:sp>
        <p:nvSpPr>
          <p:cNvPr id="7" name="TextBox 6"/>
          <p:cNvSpPr txBox="1"/>
          <p:nvPr/>
        </p:nvSpPr>
        <p:spPr>
          <a:xfrm>
            <a:off x="502920" y="4096766"/>
            <a:ext cx="11183112" cy="549402"/>
          </a:xfrm>
          <a:prstGeom prst="rect">
            <a:avLst/>
          </a:prstGeom>
          <a:noFill/>
        </p:spPr>
        <p:txBody>
          <a:bodyPr wrap="none" lIns="0" rIns="0" tIns="0" bIns="0">
            <a:noAutofit/>
          </a:bodyPr>
          <a:lstStyle/>
          <a:p>
            <a:pPr algn="l">
              <a:lnSpc>
                <a:spcPct val="112000"/>
              </a:lnSpc>
              <a:spcBef>
                <a:spcPts val="0"/>
              </a:spcBef>
              <a:spcAft>
                <a:spcPts val="0"/>
              </a:spcAft>
              <a:defRPr sz="1500" b="0">
                <a:solidFill>
                  <a:srgbClr val="4C6258"/>
                </a:solidFill>
                <a:latin typeface="Malgun Gothic"/>
              </a:defRPr>
            </a:pPr>
            <a:r>
              <a:t>먼저 전체 실습 흐름을 짧게 보여주고, 현재 환경과 데이터에서 이 시나리오가 가능한지 확인해라.</a:t>
            </a:r>
          </a:p>
          <a:p>
            <a:pPr algn="l">
              <a:lnSpc>
                <a:spcPct val="112000"/>
              </a:lnSpc>
              <a:spcBef>
                <a:spcPts val="0"/>
              </a:spcBef>
              <a:spcAft>
                <a:spcPts val="0"/>
              </a:spcAft>
              <a:defRPr sz="1500" b="0">
                <a:solidFill>
                  <a:srgbClr val="4C6258"/>
                </a:solidFill>
                <a:latin typeface="Malgun Gothic"/>
              </a:defRPr>
            </a:pPr>
            <a:r>
              <a:t>첫 답변에서는 자산을 변경하지 말고, 내가 바로 할 일 한 단계만 안내해라.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 Manager 실습 공유</dc:title>
  <dc:subject>배치 출하 검토 · AI FDE · 직접 실습</dc:subject>
  <dc:creator>gptsquare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